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120000" cy="78247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120000" cy="562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800" y="108000"/>
            <a:ext cx="60624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6343B"/>
                </a:solidFill>
                <a:latin typeface="Arial"/>
                <a:ea typeface="SimSun"/>
              </a:rPr>
              <a:t>User input (ZH)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" y="332400"/>
            <a:ext cx="6062400" cy="157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Intent confirmation (HITL) · faithful EN translation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0" y="742320"/>
            <a:ext cx="6120000" cy="684240"/>
          </a:xfrm>
          <a:prstGeom prst="roundRect">
            <a:avLst>
              <a:gd name="adj" fmla="val 10000"/>
            </a:avLst>
          </a:prstGeom>
          <a:solidFill>
            <a:srgbClr val="E4F2F8"/>
          </a:solidFill>
          <a:ln w="635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800" y="850320"/>
            <a:ext cx="60624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6343B"/>
                </a:solidFill>
                <a:latin typeface="Arial"/>
                <a:ea typeface="SimSun"/>
              </a:rPr>
              <a:t>Supervisor orchestrator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" y="1074720"/>
            <a:ext cx="60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local_goal || web_goal · budgets clamped in code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asyncio.gather (concurrent)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0" y="1606560"/>
            <a:ext cx="1800000" cy="4143600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635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000" y="1714560"/>
            <a:ext cx="17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6343B"/>
                </a:solidFill>
                <a:latin typeface="Arial"/>
                <a:ea typeface="SimSun"/>
              </a:rPr>
              <a:t>Local RAG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00" y="1938959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00" y="203934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Corpus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00" y="224850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4,906 documents / 126,494 chunks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frozen manifest, DOI-keyed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000" y="2700720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00" y="280110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Retrieval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00" y="301026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Dense e5-large / Sparse BM25+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RRF k = 60, window W = 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00" y="3462480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00" y="356286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Rerank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00" y="377202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bge-reranker-v2-m3, top-K = 10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T = max(0.25, s_top x 0.60)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00" y="4224240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00" y="432462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Generation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00" y="453378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answers with [n], verbatim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no [Wn] / URL; ZH or 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00" y="4986000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00" y="508638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Orchestration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00" y="529554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budgets &amp; caps; early stop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evidence ≥ 6 and new &lt; 25%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20000" y="1606560"/>
            <a:ext cx="1800000" cy="4143600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635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8000" y="1714560"/>
            <a:ext cx="176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6343B"/>
                </a:solidFill>
                <a:latin typeface="Arial"/>
                <a:ea typeface="SimSun"/>
              </a:rPr>
              <a:t>Web Agent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10000" y="1938959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8800" y="203934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Round 1 search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8800" y="224850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DeepSeek native, 90 s cap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fail-open on timeout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10000" y="2700720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8800" y="280110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self-judge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8800" y="301026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sufficient -&gt; stop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otherwise retry once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10000" y="3462480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8800" y="356286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Round 2 retry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8800" y="377202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&lt;= 2 rounds hard cap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same cleaner and tierer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10000" y="4224240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8800" y="432462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tier tagging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8800" y="453378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T1 official, T2 media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T3 self-media (labels only)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10000" y="4986000"/>
            <a:ext cx="1620000" cy="653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8800" y="5086380"/>
            <a:ext cx="156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cleaning &amp; metadata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8800" y="5295540"/>
            <a:ext cx="156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drop duplicates, strip markup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keep snippet + URL + date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80000" y="1606560"/>
            <a:ext cx="2160000" cy="4143600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635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98000" y="1714560"/>
            <a:ext cx="21240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6343B"/>
                </a:solidFill>
                <a:latin typeface="Arial"/>
                <a:ea typeface="SimSun"/>
              </a:rPr>
              <a:t>Assembly &amp; audit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070000" y="2132880"/>
            <a:ext cx="1980000" cy="3369360"/>
          </a:xfrm>
          <a:prstGeom prst="roundRect">
            <a:avLst>
              <a:gd name="adj" fmla="val 10000"/>
            </a:avLst>
          </a:prstGeom>
          <a:noFill/>
          <a:ln w="6350">
            <a:solidFill>
              <a:srgbClr val="D4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2160000" y="2222880"/>
            <a:ext cx="1800000" cy="53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88800" y="2323260"/>
            <a:ext cx="174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Stage 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88800" y="2532420"/>
            <a:ext cx="1742400" cy="157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code hard gate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60000" y="2862720"/>
            <a:ext cx="1800000" cy="53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88800" y="2963100"/>
            <a:ext cx="174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Stage 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88800" y="3172260"/>
            <a:ext cx="1742400" cy="157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model review</a:t>
            </a:r>
          </a:p>
        </p:txBody>
      </p:sp>
      <p:sp>
        <p:nvSpPr>
          <p:cNvPr id="51" name="Diamond 50"/>
          <p:cNvSpPr/>
          <p:nvPr/>
        </p:nvSpPr>
        <p:spPr>
          <a:xfrm>
            <a:off x="2484000" y="3502560"/>
            <a:ext cx="1152000" cy="414000"/>
          </a:xfrm>
          <a:prstGeom prst="diamond">
            <a:avLst/>
          </a:prstGeom>
          <a:solidFill>
            <a:srgbClr val="FAF0D8"/>
          </a:solidFill>
          <a:ln w="635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02000" y="3502560"/>
            <a:ext cx="1116000" cy="414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critical?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160000" y="4024560"/>
            <a:ext cx="1800000" cy="531840"/>
          </a:xfrm>
          <a:prstGeom prst="roundRect">
            <a:avLst>
              <a:gd name="adj" fmla="val 10000"/>
            </a:avLst>
          </a:prstGeom>
          <a:solidFill>
            <a:srgbClr val="FAF0D8"/>
          </a:solidFill>
          <a:ln w="635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88800" y="4124940"/>
            <a:ext cx="174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one minimal repair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188800" y="4334100"/>
            <a:ext cx="1742400" cy="157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one pass, count capped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60000" y="4664400"/>
            <a:ext cx="1800000" cy="53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BE9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88800" y="4764780"/>
            <a:ext cx="1742400" cy="1371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26343B"/>
                </a:solidFill>
                <a:latin typeface="Arial"/>
                <a:ea typeface="SimSun"/>
              </a:rPr>
              <a:t>re-validate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88800" y="4973940"/>
            <a:ext cx="1742400" cy="157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back to Stage A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0" y="5930160"/>
            <a:ext cx="6120000" cy="562320"/>
          </a:xfrm>
          <a:prstGeom prst="roundRect">
            <a:avLst>
              <a:gd name="adj" fmla="val 10000"/>
            </a:avLst>
          </a:prstGeom>
          <a:solidFill>
            <a:srgbClr val="E4F2F8"/>
          </a:solidFill>
          <a:ln w="6350">
            <a:solidFill>
              <a:srgbClr val="287D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8800" y="6038160"/>
            <a:ext cx="60624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6343B"/>
                </a:solidFill>
                <a:latin typeface="Arial"/>
                <a:ea typeface="SimSun"/>
              </a:rPr>
              <a:t>Supervisor final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800" y="6262560"/>
            <a:ext cx="6062400" cy="1579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audit passed? · final decision: pass / partial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672480"/>
            <a:ext cx="2970000" cy="684240"/>
          </a:xfrm>
          <a:prstGeom prst="roundRect">
            <a:avLst>
              <a:gd name="adj" fmla="val 10000"/>
            </a:avLst>
          </a:prstGeom>
          <a:solidFill>
            <a:srgbClr val="E7F1E5"/>
          </a:solidFill>
          <a:ln w="6350">
            <a:solidFill>
              <a:srgbClr val="4F88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8800" y="6780480"/>
            <a:ext cx="29124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6343B"/>
                </a:solidFill>
                <a:latin typeface="Arial"/>
                <a:ea typeface="SimSun"/>
              </a:rPr>
              <a:t>Section 1 - local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800" y="7004880"/>
            <a:ext cx="291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[n] citations · verbatim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no [Wn] / URL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150000" y="6672480"/>
            <a:ext cx="2970000" cy="684240"/>
          </a:xfrm>
          <a:prstGeom prst="roundRect">
            <a:avLst>
              <a:gd name="adj" fmla="val 10000"/>
            </a:avLst>
          </a:prstGeom>
          <a:solidFill>
            <a:srgbClr val="FBEAE1"/>
          </a:solidFill>
          <a:ln w="6350">
            <a:solidFill>
              <a:srgbClr val="C875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178800" y="6780480"/>
            <a:ext cx="2912400" cy="152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6343B"/>
                </a:solidFill>
                <a:latin typeface="Arial"/>
                <a:ea typeface="SimSun"/>
              </a:rPr>
              <a:t>Section 2 - web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178800" y="7004880"/>
            <a:ext cx="2912400" cy="27984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URL + tier (T1/T2/T3)</a:t>
            </a:r>
          </a:p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not in the local citation pool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060000" y="562320"/>
            <a:ext cx="0" cy="180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900000" y="1426560"/>
            <a:ext cx="1332000" cy="180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3888000" y="1426560"/>
            <a:ext cx="1332000" cy="180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H="1">
            <a:off x="1485000" y="6492480"/>
            <a:ext cx="747000" cy="180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3888000" y="6492480"/>
            <a:ext cx="747000" cy="180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060000" y="2754720"/>
            <a:ext cx="0" cy="108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060000" y="3394560"/>
            <a:ext cx="0" cy="108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060000" y="3916560"/>
            <a:ext cx="0" cy="108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060000" y="4556400"/>
            <a:ext cx="0" cy="108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H="1">
            <a:off x="2116800" y="4930320"/>
            <a:ext cx="43200" cy="0"/>
          </a:xfrm>
          <a:prstGeom prst="line">
            <a:avLst/>
          </a:prstGeom>
          <a:ln w="6350">
            <a:solidFill>
              <a:srgbClr val="5261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2116800" y="2488800"/>
            <a:ext cx="0" cy="2441520"/>
          </a:xfrm>
          <a:prstGeom prst="line">
            <a:avLst/>
          </a:prstGeom>
          <a:ln w="6350">
            <a:solidFill>
              <a:srgbClr val="5261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2116800" y="2488800"/>
            <a:ext cx="43200" cy="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3636000" y="3709560"/>
            <a:ext cx="367199" cy="0"/>
          </a:xfrm>
          <a:prstGeom prst="line">
            <a:avLst/>
          </a:prstGeom>
          <a:ln w="6350">
            <a:solidFill>
              <a:srgbClr val="5261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003199" y="3709560"/>
            <a:ext cx="0" cy="1648680"/>
          </a:xfrm>
          <a:prstGeom prst="line">
            <a:avLst/>
          </a:prstGeom>
          <a:ln w="6350">
            <a:solidFill>
              <a:srgbClr val="52616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H="1">
            <a:off x="3060000" y="5358240"/>
            <a:ext cx="943199" cy="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060000" y="5196240"/>
            <a:ext cx="0" cy="16200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060000" y="5358240"/>
            <a:ext cx="0" cy="571920"/>
          </a:xfrm>
          <a:prstGeom prst="line">
            <a:avLst/>
          </a:prstGeom>
          <a:ln w="6350">
            <a:solidFill>
              <a:srgbClr val="52616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1800000" y="5649360"/>
            <a:ext cx="9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890000" y="3678360"/>
            <a:ext cx="0" cy="1971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1890000" y="3678360"/>
            <a:ext cx="90000" cy="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H="1">
            <a:off x="4230000" y="5649360"/>
            <a:ext cx="900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4230000" y="3678360"/>
            <a:ext cx="0" cy="197100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4140000" y="3678360"/>
            <a:ext cx="90000" cy="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3060000" y="1426560"/>
            <a:ext cx="0" cy="18000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00000" y="3365280"/>
            <a:ext cx="0" cy="8640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00000" y="4127040"/>
            <a:ext cx="0" cy="8640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H="1">
            <a:off x="43200" y="5312880"/>
            <a:ext cx="46800" cy="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43200" y="3027600"/>
            <a:ext cx="0" cy="2285280"/>
          </a:xfrm>
          <a:prstGeom prst="line">
            <a:avLst/>
          </a:prstGeom>
          <a:ln w="6350">
            <a:solidFill>
              <a:srgbClr val="33333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3200" y="3027600"/>
            <a:ext cx="46800" cy="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220000" y="2603520"/>
            <a:ext cx="0" cy="8640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5220000" y="3365280"/>
            <a:ext cx="0" cy="8640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5220000" y="4127040"/>
            <a:ext cx="0" cy="8640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5220000" y="4888800"/>
            <a:ext cx="0" cy="86400"/>
          </a:xfrm>
          <a:prstGeom prst="line">
            <a:avLst/>
          </a:prstGeom>
          <a:ln w="6350">
            <a:solidFill>
              <a:srgbClr val="33333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TextBox 100"/>
          <p:cNvSpPr txBox="1"/>
          <p:nvPr/>
        </p:nvSpPr>
        <p:spPr>
          <a:xfrm>
            <a:off x="1980000" y="1938960"/>
            <a:ext cx="2160000" cy="144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Assembly: renumber, drop dead markers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103199" y="3923760"/>
            <a:ext cx="432000" cy="10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yes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657600" y="3380160"/>
            <a:ext cx="432000" cy="10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no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160000" y="5203440"/>
            <a:ext cx="871200" cy="10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loop back to Stage A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03199" y="537264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52616A"/>
                </a:solidFill>
                <a:latin typeface="Arial"/>
                <a:ea typeface="SimSun"/>
              </a:rPr>
              <a:t>to Supervisor final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5112000" y="3347280"/>
            <a:ext cx="972000" cy="10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666666"/>
                </a:solidFill>
                <a:latin typeface="Arial"/>
                <a:ea typeface="SimSun"/>
              </a:rPr>
              <a:t>if insufficient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8000" y="7446720"/>
            <a:ext cx="5903999" cy="2880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52616A"/>
                </a:solidFill>
                <a:latin typeface="Arial"/>
                <a:ea typeface="SimSun"/>
              </a:rPr>
              <a:t>Colour semantics: Supervisor · Local RAG Agent · Web Agent · Assembly &amp; 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