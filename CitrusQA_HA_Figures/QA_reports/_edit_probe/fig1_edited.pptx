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264000" cy="424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264000" cy="424800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" y="635"/>
            <a:ext cx="2202173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6343B"/>
                </a:solidFill>
                <a:latin typeface="Arial"/>
              </a:rPr>
              <a:t>(a) System design and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" y="177799"/>
            <a:ext cx="1066796" cy="330199"/>
          </a:xfrm>
          <a:prstGeom prst="roundRect">
            <a:avLst>
              <a:gd name="adj" fmla="val 10000"/>
            </a:avLst>
          </a:prstGeom>
          <a:solidFill>
            <a:srgbClr val="E4F2F8"/>
          </a:solidFill>
          <a:ln w="889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4939" y="403859"/>
            <a:ext cx="120652" cy="120652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799" y="231393"/>
            <a:ext cx="854148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User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799" y="353821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52616A"/>
                </a:solidFill>
                <a:latin typeface="Arial"/>
              </a:rPr>
              <a:t>asked in CN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9700" y="584198"/>
            <a:ext cx="939797" cy="4317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099" y="639570"/>
            <a:ext cx="50454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柑橘黄龙病有哪些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099" y="750059"/>
            <a:ext cx="45100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有效防治药剂？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397" y="561338"/>
            <a:ext cx="406907" cy="121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00" b="0">
                <a:solidFill>
                  <a:srgbClr val="52616A"/>
                </a:solidFill>
                <a:latin typeface="Arial"/>
              </a:rPr>
              <a:t>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" y="1092196"/>
            <a:ext cx="990597" cy="534668"/>
          </a:xfrm>
          <a:prstGeom prst="roundRect">
            <a:avLst>
              <a:gd name="adj" fmla="val 10000"/>
            </a:avLst>
          </a:prstGeom>
          <a:solidFill>
            <a:srgbClr val="E4F2F8"/>
          </a:solidFill>
          <a:ln w="762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799" y="1130423"/>
            <a:ext cx="936038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Intent 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199" y="1255518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detect ambiguity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199" y="1366007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ask to clarify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3199" y="1476497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1–3 candidates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98" y="1652264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14300" y="1753864"/>
            <a:ext cx="990597" cy="534668"/>
          </a:xfrm>
          <a:prstGeom prst="roundRect">
            <a:avLst>
              <a:gd name="adj" fmla="val 10000"/>
            </a:avLst>
          </a:prstGeom>
          <a:solidFill>
            <a:srgbClr val="F0EDFA"/>
          </a:solidFill>
          <a:ln w="762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799" y="1792091"/>
            <a:ext cx="874621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Query rewrite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199" y="1917186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faithful CN → 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199" y="202767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no rewriting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3199" y="2138165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intent-anchored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44596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23336" y="403859"/>
            <a:ext cx="120652" cy="120652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73195" y="226059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6343B"/>
                </a:solidFill>
                <a:latin typeface="Arial"/>
              </a:rPr>
              <a:t>Local RAG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3195" y="353821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52616A"/>
                </a:solidFill>
                <a:latin typeface="Arial"/>
              </a:rPr>
              <a:t>authoritative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2696" y="584198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48735" y="742948"/>
            <a:ext cx="95244" cy="95244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0495" y="622425"/>
            <a:ext cx="813204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Corpus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595" y="74751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4,906 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595" y="858009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126,494 (EDITED-IN-PPTX) chunks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595" y="968499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EN · DOI-keyed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824984" y="1144266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282696" y="1220466"/>
            <a:ext cx="1083306" cy="645158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48735" y="1379215"/>
            <a:ext cx="95244" cy="95244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60495" y="1258693"/>
            <a:ext cx="628953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Retrieval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595" y="1383787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dense e5-large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595" y="1494277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+ sparse BM25Plus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595" y="1604767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RRF k=60 fusion,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595" y="1715256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bounded cutoff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824984" y="1891024"/>
            <a:ext cx="0" cy="63499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282696" y="1967223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348735" y="2125973"/>
            <a:ext cx="95244" cy="95244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60495" y="2005450"/>
            <a:ext cx="444702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Rerank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595" y="213054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bge-reranker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595" y="2241034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(top-K = 10)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24984" y="2416802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282696" y="2493002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762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48735" y="2651751"/>
            <a:ext cx="95244" cy="95244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460495" y="2531229"/>
            <a:ext cx="690370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Generation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595" y="2656323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answers with [n]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595" y="2766813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no [Wn] · EN/CN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595" y="2877302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budget &amp; early stop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05702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585711" y="403859"/>
            <a:ext cx="120652" cy="120652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34301" y="226059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6343B"/>
                </a:solidFill>
                <a:latin typeface="Arial"/>
              </a:rPr>
              <a:t>Web agent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34301" y="353821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52616A"/>
                </a:solidFill>
                <a:latin typeface="Arial"/>
              </a:rPr>
              <a:t>timely info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43801" y="584198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611111" y="742948"/>
            <a:ext cx="95244" cy="95244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21601" y="622425"/>
            <a:ext cx="874621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Server 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32701" y="747519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snippets + URL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632701" y="858009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+ access date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086090" y="1033777"/>
            <a:ext cx="0" cy="63499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2543801" y="1109976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611111" y="1269996"/>
            <a:ext cx="95244" cy="95244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21601" y="1148203"/>
            <a:ext cx="690370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Self-judge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632701" y="1273298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sufficient → stop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32701" y="1383787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otherwise retry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632701" y="1494277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(≤ 2 rounds)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086090" y="1670044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2543801" y="1746244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611111" y="1906264"/>
            <a:ext cx="95244" cy="95244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721601" y="1784471"/>
            <a:ext cx="567536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Cleaning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32701" y="1909566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remove duplicates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32701" y="202005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keep snippet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632701" y="2130545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+ URL + date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086090" y="2306312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2543801" y="2382512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762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2611111" y="2542531"/>
            <a:ext cx="95244" cy="95244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21601" y="2420739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Tiering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632701" y="2545833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T1 · T2 · T3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32701" y="2656323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(annotation,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632701" y="2766813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not a filter)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66807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889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6817" y="403859"/>
            <a:ext cx="120652" cy="120652"/>
          </a:xfrm>
          <a:prstGeom prst="ellipse">
            <a:avLst/>
          </a:prstGeom>
          <a:solidFill>
            <a:srgbClr val="F5EEE3"/>
          </a:solidFill>
          <a:ln w="1016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95407" y="226059"/>
            <a:ext cx="958085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6343B"/>
                </a:solidFill>
                <a:latin typeface="Arial"/>
              </a:rPr>
              <a:t>Assembly/audit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95407" y="353821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52616A"/>
                </a:solidFill>
                <a:latin typeface="Arial"/>
              </a:rPr>
              <a:t>code-verified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04907" y="584198"/>
            <a:ext cx="1083306" cy="534668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72217" y="742948"/>
            <a:ext cx="95244" cy="95244"/>
          </a:xfrm>
          <a:prstGeom prst="ellipse">
            <a:avLst/>
          </a:prstGeom>
          <a:solidFill>
            <a:srgbClr val="F5EEE3"/>
          </a:solidFill>
          <a:ln w="1016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982707" y="622425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Stage 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93807" y="74751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IDs within pool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93807" y="858009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caliber (numbers)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93807" y="968499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recency co-occur.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4345925" y="1144266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3804907" y="1220466"/>
            <a:ext cx="1083306" cy="31368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872217" y="1379215"/>
            <a:ext cx="95244" cy="95244"/>
          </a:xfrm>
          <a:prstGeom prst="ellipse">
            <a:avLst/>
          </a:prstGeom>
          <a:solidFill>
            <a:srgbClr val="F5EEE3"/>
          </a:solidFill>
          <a:ln w="1016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82707" y="1258693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Stage 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93807" y="1383787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fast-model rubric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4345925" y="1559555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3804907" y="1635755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872217" y="1795774"/>
            <a:ext cx="95244" cy="95244"/>
          </a:xfrm>
          <a:prstGeom prst="ellipse">
            <a:avLst/>
          </a:prstGeom>
          <a:solidFill>
            <a:srgbClr val="F5EEE3"/>
          </a:solidFill>
          <a:ln w="1016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82707" y="1673981"/>
            <a:ext cx="874621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repair (once)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893807" y="1799076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critical only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893807" y="1909566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minor: flag only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4345925" y="2085333"/>
            <a:ext cx="0" cy="63500"/>
          </a:xfrm>
          <a:prstGeom prst="line">
            <a:avLst/>
          </a:prstGeom>
          <a:ln w="1016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3804907" y="2161533"/>
            <a:ext cx="1083306" cy="424179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762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3872217" y="2321552"/>
            <a:ext cx="95244" cy="95244"/>
          </a:xfrm>
          <a:prstGeom prst="ellipse">
            <a:avLst/>
          </a:prstGeom>
          <a:solidFill>
            <a:srgbClr val="F5EEE3"/>
          </a:solidFill>
          <a:ln w="1016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82707" y="2199760"/>
            <a:ext cx="506119" cy="1584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26343B"/>
                </a:solidFill>
                <a:latin typeface="Arial"/>
              </a:rPr>
              <a:t>Outcome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93807" y="2324854"/>
            <a:ext cx="825802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pass / partial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93807" y="2435344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refs all in pool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027913" y="177799"/>
            <a:ext cx="1159506" cy="330199"/>
          </a:xfrm>
          <a:prstGeom prst="roundRect">
            <a:avLst>
              <a:gd name="adj" fmla="val 10000"/>
            </a:avLst>
          </a:prstGeom>
          <a:solidFill>
            <a:srgbClr val="F0EDFA"/>
          </a:solidFill>
          <a:ln w="889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5106653" y="403859"/>
            <a:ext cx="120652" cy="120652"/>
          </a:xfrm>
          <a:prstGeom prst="ellipse">
            <a:avLst/>
          </a:prstGeom>
          <a:solidFill>
            <a:srgbClr val="EAE9F1"/>
          </a:solidFill>
          <a:ln w="1016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256512" y="226059"/>
            <a:ext cx="832101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6343B"/>
                </a:solidFill>
                <a:latin typeface="Arial"/>
              </a:rPr>
              <a:t>Two sections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56512" y="353821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52616A"/>
                </a:solidFill>
                <a:latin typeface="Arial"/>
              </a:rPr>
              <a:t>user-language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066013" y="609598"/>
            <a:ext cx="1083306" cy="761997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132053" y="777237"/>
            <a:ext cx="95244" cy="95244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243812" y="661668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4F8868"/>
                </a:solidFill>
                <a:latin typeface="Arial"/>
              </a:rPr>
              <a:t>Section 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85820" y="677670"/>
            <a:ext cx="61163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80" b="0">
                <a:solidFill>
                  <a:srgbClr val="4F8868"/>
                </a:solidFill>
                <a:latin typeface="Arial"/>
              </a:rPr>
              <a:t>(verified)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42213" y="836419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only from local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42213" y="946909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authoritative lit.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42213" y="1057398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numbered citations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142213" y="1167888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each DOI-clickable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66013" y="1447795"/>
            <a:ext cx="1083306" cy="761997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132053" y="1615435"/>
            <a:ext cx="95244" cy="95244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243812" y="1499865"/>
            <a:ext cx="643126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C87558"/>
                </a:solidFill>
                <a:latin typeface="Arial"/>
              </a:rPr>
              <a:t>Section 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085820" y="1515867"/>
            <a:ext cx="718716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80" b="0">
                <a:solidFill>
                  <a:srgbClr val="C87558"/>
                </a:solidFill>
                <a:latin typeface="Arial"/>
              </a:rPr>
              <a:t>(unverified)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142213" y="1674616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timely information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42213" y="1785106"/>
            <a:ext cx="932888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from web; marked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142213" y="1895596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flagged unverified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142213" y="2006085"/>
            <a:ext cx="1039974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URL + access dates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76200" y="2819391"/>
            <a:ext cx="1451605" cy="25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175259" y="2999730"/>
            <a:ext cx="107948" cy="107948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17499" y="2832345"/>
            <a:ext cx="1033675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Source isolation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17499" y="2942453"/>
            <a:ext cx="857298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citation pools &amp;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7499" y="3042783"/>
            <a:ext cx="1003754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namespaces separate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629405" y="2819391"/>
            <a:ext cx="1451605" cy="25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728464" y="2999730"/>
            <a:ext cx="107948" cy="107948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870704" y="2832345"/>
            <a:ext cx="1093517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Code verification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870704" y="2942453"/>
            <a:ext cx="115021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every in-text citation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70704" y="3042783"/>
            <a:ext cx="564386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resolvable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182609" y="2819391"/>
            <a:ext cx="1451605" cy="25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281669" y="2999730"/>
            <a:ext cx="107948" cy="107948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423909" y="2832345"/>
            <a:ext cx="1033675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Chinese-friendly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23909" y="2942453"/>
            <a:ext cx="1199028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CN question → EN search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23909" y="3042783"/>
            <a:ext cx="115021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answer in own language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735814" y="2819391"/>
            <a:ext cx="1451605" cy="253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834874" y="2999730"/>
            <a:ext cx="107948" cy="107948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4977113" y="2832345"/>
            <a:ext cx="1153359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1">
                <a:solidFill>
                  <a:srgbClr val="26343B"/>
                </a:solidFill>
                <a:latin typeface="Arial"/>
              </a:rPr>
              <a:t>Timely but bounded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977113" y="2942453"/>
            <a:ext cx="808479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web information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77113" y="3042783"/>
            <a:ext cx="759661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clearly marked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0800" y="2965059"/>
            <a:ext cx="1904536" cy="17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1">
                <a:solidFill>
                  <a:srgbClr val="26343B"/>
                </a:solidFill>
                <a:latin typeface="Arial"/>
              </a:rPr>
              <a:t>(b) Knowledge-base overview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76200" y="3124190"/>
            <a:ext cx="3004810" cy="10667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71449" y="3333739"/>
            <a:ext cx="114300" cy="114300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2899" y="3176259"/>
            <a:ext cx="1588003" cy="162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6343B"/>
                </a:solidFill>
                <a:latin typeface="Arial"/>
              </a:rPr>
              <a:t>Authoritative literature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2899" y="3302243"/>
            <a:ext cx="1991150" cy="1544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60" b="0">
                <a:solidFill>
                  <a:srgbClr val="26343B"/>
                </a:solidFill>
                <a:latin typeface="Arial"/>
              </a:rPr>
              <a:t>4,906 documents · 126,494 chunks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77799" y="3479788"/>
            <a:ext cx="642618" cy="38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243839" y="3647428"/>
            <a:ext cx="95244" cy="95244"/>
          </a:xfrm>
          <a:prstGeom prst="ellipse">
            <a:avLst/>
          </a:prstGeom>
          <a:solidFill>
            <a:srgbClr val="E4EDE8"/>
          </a:solidFill>
          <a:ln w="1016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380999" y="3526524"/>
            <a:ext cx="539189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103,089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3999" y="3689211"/>
            <a:ext cx="466749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Research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253999" y="3789540"/>
            <a:ext cx="564386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literature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897887" y="3479788"/>
            <a:ext cx="642618" cy="38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963927" y="3647428"/>
            <a:ext cx="95244" cy="95244"/>
          </a:xfrm>
          <a:prstGeom prst="ellipse">
            <a:avLst/>
          </a:prstGeom>
          <a:solidFill>
            <a:srgbClr val="F5EEE3"/>
          </a:solidFill>
          <a:ln w="1016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01086" y="3526524"/>
            <a:ext cx="473048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10,018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74087" y="3689211"/>
            <a:ext cx="41793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Variety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974087" y="3789540"/>
            <a:ext cx="417930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records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616705" y="3479788"/>
            <a:ext cx="642618" cy="38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684014" y="3647428"/>
            <a:ext cx="95244" cy="95244"/>
          </a:xfrm>
          <a:prstGeom prst="ellipse">
            <a:avLst/>
          </a:prstGeom>
          <a:solidFill>
            <a:srgbClr val="F6EAE5"/>
          </a:solidFill>
          <a:ln w="1016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819904" y="3526524"/>
            <a:ext cx="473048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13,137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692904" y="3689211"/>
            <a:ext cx="564386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Translated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692904" y="3789540"/>
            <a:ext cx="369112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corpus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336792" y="3479788"/>
            <a:ext cx="642618" cy="3809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402832" y="3647428"/>
            <a:ext cx="95244" cy="95244"/>
          </a:xfrm>
          <a:prstGeom prst="ellipse">
            <a:avLst/>
          </a:prstGeom>
          <a:solidFill>
            <a:srgbClr val="EAE9F1"/>
          </a:solidFill>
          <a:ln w="10160">
            <a:solidFill>
              <a:srgbClr val="777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539991" y="3526524"/>
            <a:ext cx="274624" cy="170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40" b="1">
                <a:solidFill>
                  <a:srgbClr val="26343B"/>
                </a:solidFill>
                <a:latin typeface="Arial"/>
              </a:rPr>
              <a:t>250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412992" y="3689211"/>
            <a:ext cx="515567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Methods &amp;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12992" y="3789540"/>
            <a:ext cx="515567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protocols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52399" y="3854310"/>
            <a:ext cx="1540759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no Chinese-dominant chunks; CN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52399" y="3954640"/>
            <a:ext cx="1687215" cy="125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20" b="0">
                <a:solidFill>
                  <a:srgbClr val="52616A"/>
                </a:solidFill>
                <a:latin typeface="Arial"/>
              </a:rPr>
              <a:t>sources enter as faithful English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157209" y="2965059"/>
            <a:ext cx="1633672" cy="17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60" b="1">
                <a:solidFill>
                  <a:srgbClr val="26343B"/>
                </a:solidFill>
                <a:latin typeface="Arial"/>
              </a:rPr>
              <a:t>(c) Evaluation overview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182609" y="3124190"/>
            <a:ext cx="3004810" cy="10667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300719" y="3341359"/>
            <a:ext cx="95244" cy="95244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3462008" y="3236711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84-question comparison: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3462008" y="3347201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Tracks A–E × two judges</a:t>
            </a:r>
          </a:p>
        </p:txBody>
      </p:sp>
      <p:sp>
        <p:nvSpPr>
          <p:cNvPr id="183" name="Oval 182"/>
          <p:cNvSpPr/>
          <p:nvPr/>
        </p:nvSpPr>
        <p:spPr>
          <a:xfrm>
            <a:off x="4701524" y="3341359"/>
            <a:ext cx="95244" cy="95244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4862814" y="3236711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144-question 3 pools: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862814" y="3347201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facts · decoys · stale,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862814" y="3457690"/>
            <a:ext cx="986431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48 questions each</a:t>
            </a:r>
          </a:p>
        </p:txBody>
      </p:sp>
      <p:sp>
        <p:nvSpPr>
          <p:cNvPr id="187" name="Oval 186"/>
          <p:cNvSpPr/>
          <p:nvPr/>
        </p:nvSpPr>
        <p:spPr>
          <a:xfrm>
            <a:off x="3300719" y="3652508"/>
            <a:ext cx="95244" cy="95244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462008" y="3547860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132 real user queries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462008" y="3658350"/>
            <a:ext cx="879345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four-day window</a:t>
            </a:r>
          </a:p>
        </p:txBody>
      </p:sp>
      <p:sp>
        <p:nvSpPr>
          <p:cNvPr id="190" name="Oval 189"/>
          <p:cNvSpPr/>
          <p:nvPr/>
        </p:nvSpPr>
        <p:spPr>
          <a:xfrm>
            <a:off x="4701524" y="3652508"/>
            <a:ext cx="95244" cy="95244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862814" y="3547860"/>
            <a:ext cx="114706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judges kimi-k2.6 and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4862814" y="3658350"/>
            <a:ext cx="1147060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glm-5.3 — per-judge,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4862814" y="3768839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with MDD boundaries</a:t>
            </a:r>
          </a:p>
        </p:txBody>
      </p:sp>
      <p:sp>
        <p:nvSpPr>
          <p:cNvPr id="194" name="Oval 193"/>
          <p:cNvSpPr/>
          <p:nvPr/>
        </p:nvSpPr>
        <p:spPr>
          <a:xfrm>
            <a:off x="3300719" y="3963657"/>
            <a:ext cx="95244" cy="95244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3462008" y="3859009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48-question web test: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462008" y="3969499"/>
            <a:ext cx="1093517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3.1% no-web → 24.0%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462008" y="4079988"/>
            <a:ext cx="130768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under unfiltered mixing</a:t>
            </a:r>
          </a:p>
        </p:txBody>
      </p:sp>
      <p:sp>
        <p:nvSpPr>
          <p:cNvPr id="198" name="Oval 197"/>
          <p:cNvSpPr/>
          <p:nvPr/>
        </p:nvSpPr>
        <p:spPr>
          <a:xfrm>
            <a:off x="4701524" y="3963657"/>
            <a:ext cx="95244" cy="95244"/>
          </a:xfrm>
          <a:prstGeom prst="ellipse">
            <a:avLst/>
          </a:prstGeom>
          <a:solidFill>
            <a:srgbClr val="DEEBEF"/>
          </a:solidFill>
          <a:ln w="1016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862814" y="3859009"/>
            <a:ext cx="120060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1,649/1,649 citations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4862814" y="3969499"/>
            <a:ext cx="665173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resolvable;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862814" y="4079988"/>
            <a:ext cx="772259" cy="138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80" b="0">
                <a:solidFill>
                  <a:srgbClr val="26343B"/>
                </a:solidFill>
                <a:latin typeface="Arial"/>
              </a:rPr>
              <a:t>0 out-of-pool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