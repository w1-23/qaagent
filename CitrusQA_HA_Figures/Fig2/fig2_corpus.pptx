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264000" cy="403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264000" cy="403198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" y="635"/>
            <a:ext cx="234390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6343B"/>
                </a:solidFill>
                <a:latin typeface="Arial"/>
              </a:rPr>
              <a:t>(a) Corpus construction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" y="203199"/>
            <a:ext cx="1451605" cy="755647"/>
          </a:xfrm>
          <a:prstGeom prst="roundRect">
            <a:avLst>
              <a:gd name="adj" fmla="val 10000"/>
            </a:avLst>
          </a:prstGeom>
          <a:solidFill>
            <a:srgbClr val="E4F2F8"/>
          </a:solidFill>
          <a:ln w="889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61924" y="275272"/>
            <a:ext cx="82550" cy="74294"/>
          </a:xfrm>
          <a:custGeom>
            <a:avLst/>
            <a:gdLst/>
            <a:ahLst/>
            <a:cxnLst/>
            <a:rect l="l" t="t" r="r" b="b"/>
            <a:pathLst>
              <a:path w="82550" h="74294">
                <a:moveTo>
                  <a:pt x="54071" y="74294"/>
                </a:moveTo>
                <a:lnTo>
                  <a:pt x="54071" y="61396"/>
                </a:lnTo>
                <a:lnTo>
                  <a:pt x="38180" y="61396"/>
                </a:lnTo>
                <a:lnTo>
                  <a:pt x="38180" y="19089"/>
                </a:lnTo>
                <a:lnTo>
                  <a:pt x="28583" y="19089"/>
                </a:lnTo>
                <a:lnTo>
                  <a:pt x="28583" y="32504"/>
                </a:lnTo>
                <a:lnTo>
                  <a:pt x="0" y="32504"/>
                </a:lnTo>
                <a:lnTo>
                  <a:pt x="0" y="0"/>
                </a:lnTo>
                <a:lnTo>
                  <a:pt x="28583" y="0"/>
                </a:lnTo>
                <a:lnTo>
                  <a:pt x="28583" y="12898"/>
                </a:lnTo>
                <a:lnTo>
                  <a:pt x="54071" y="12898"/>
                </a:lnTo>
                <a:lnTo>
                  <a:pt x="54071" y="0"/>
                </a:lnTo>
                <a:lnTo>
                  <a:pt x="82550" y="0"/>
                </a:lnTo>
                <a:lnTo>
                  <a:pt x="82550" y="32504"/>
                </a:lnTo>
                <a:lnTo>
                  <a:pt x="54071" y="32504"/>
                </a:lnTo>
                <a:lnTo>
                  <a:pt x="54071" y="19089"/>
                </a:lnTo>
                <a:lnTo>
                  <a:pt x="44371" y="19089"/>
                </a:lnTo>
                <a:lnTo>
                  <a:pt x="44371" y="55205"/>
                </a:lnTo>
                <a:lnTo>
                  <a:pt x="54071" y="55205"/>
                </a:lnTo>
                <a:lnTo>
                  <a:pt x="54071" y="41790"/>
                </a:lnTo>
                <a:lnTo>
                  <a:pt x="82550" y="41790"/>
                </a:lnTo>
                <a:lnTo>
                  <a:pt x="82550" y="74294"/>
                </a:lnTo>
                <a:lnTo>
                  <a:pt x="54071" y="74294"/>
                </a:lnTo>
                <a:lnTo>
                  <a:pt x="54071" y="74294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9399" y="243966"/>
            <a:ext cx="1304540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1 · Source admission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99" y="391921"/>
            <a:ext cx="114706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whitelisted journals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99" y="502410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variety &amp; rootstock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99" y="612900"/>
            <a:ext cx="136123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records (UCR entry list,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9" y="723390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citrus monograph)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399" y="833879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authorized private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29405" y="203199"/>
            <a:ext cx="1451605" cy="755647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70644" y="339248"/>
            <a:ext cx="27138" cy="6191"/>
          </a:xfrm>
          <a:custGeom>
            <a:avLst/>
            <a:gdLst/>
            <a:ahLst/>
            <a:cxnLst/>
            <a:rect l="l" t="t" r="r" b="b"/>
            <a:pathLst>
              <a:path w="27138" h="6191">
                <a:moveTo>
                  <a:pt x="6191" y="0"/>
                </a:moveTo>
                <a:lnTo>
                  <a:pt x="27138" y="0"/>
                </a:lnTo>
                <a:lnTo>
                  <a:pt x="27138" y="6191"/>
                </a:lnTo>
                <a:lnTo>
                  <a:pt x="0" y="6191"/>
                </a:lnTo>
                <a:lnTo>
                  <a:pt x="6191" y="0"/>
                </a:lnTo>
                <a:lnTo>
                  <a:pt x="6191" y="0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715181" y="275065"/>
            <a:ext cx="80434" cy="70374"/>
          </a:xfrm>
          <a:custGeom>
            <a:avLst/>
            <a:gdLst/>
            <a:ahLst/>
            <a:cxnLst/>
            <a:rect l="l" t="t" r="r" b="b"/>
            <a:pathLst>
              <a:path w="80434" h="70374">
                <a:moveTo>
                  <a:pt x="10164" y="70374"/>
                </a:moveTo>
                <a:lnTo>
                  <a:pt x="1806" y="61706"/>
                </a:lnTo>
                <a:lnTo>
                  <a:pt x="1371" y="61255"/>
                </a:lnTo>
                <a:lnTo>
                  <a:pt x="996" y="60781"/>
                </a:lnTo>
                <a:lnTo>
                  <a:pt x="681" y="60282"/>
                </a:lnTo>
                <a:lnTo>
                  <a:pt x="425" y="59758"/>
                </a:lnTo>
                <a:lnTo>
                  <a:pt x="230" y="59211"/>
                </a:lnTo>
                <a:lnTo>
                  <a:pt x="93" y="58640"/>
                </a:lnTo>
                <a:lnTo>
                  <a:pt x="17" y="58044"/>
                </a:lnTo>
                <a:lnTo>
                  <a:pt x="0" y="57424"/>
                </a:lnTo>
                <a:lnTo>
                  <a:pt x="38" y="56804"/>
                </a:lnTo>
                <a:lnTo>
                  <a:pt x="126" y="56208"/>
                </a:lnTo>
                <a:lnTo>
                  <a:pt x="263" y="55637"/>
                </a:lnTo>
                <a:lnTo>
                  <a:pt x="451" y="55089"/>
                </a:lnTo>
                <a:lnTo>
                  <a:pt x="689" y="54566"/>
                </a:lnTo>
                <a:lnTo>
                  <a:pt x="977" y="54067"/>
                </a:lnTo>
                <a:lnTo>
                  <a:pt x="1315" y="53592"/>
                </a:lnTo>
                <a:lnTo>
                  <a:pt x="1702" y="53142"/>
                </a:lnTo>
                <a:lnTo>
                  <a:pt x="48962" y="1754"/>
                </a:lnTo>
                <a:lnTo>
                  <a:pt x="49389" y="1343"/>
                </a:lnTo>
                <a:lnTo>
                  <a:pt x="49842" y="987"/>
                </a:lnTo>
                <a:lnTo>
                  <a:pt x="50324" y="685"/>
                </a:lnTo>
                <a:lnTo>
                  <a:pt x="50832" y="439"/>
                </a:lnTo>
                <a:lnTo>
                  <a:pt x="51369" y="247"/>
                </a:lnTo>
                <a:lnTo>
                  <a:pt x="51932" y="110"/>
                </a:lnTo>
                <a:lnTo>
                  <a:pt x="52523" y="28"/>
                </a:lnTo>
                <a:lnTo>
                  <a:pt x="53141" y="0"/>
                </a:lnTo>
                <a:lnTo>
                  <a:pt x="53761" y="28"/>
                </a:lnTo>
                <a:lnTo>
                  <a:pt x="54357" y="110"/>
                </a:lnTo>
                <a:lnTo>
                  <a:pt x="54928" y="247"/>
                </a:lnTo>
                <a:lnTo>
                  <a:pt x="55476" y="439"/>
                </a:lnTo>
                <a:lnTo>
                  <a:pt x="55999" y="685"/>
                </a:lnTo>
                <a:lnTo>
                  <a:pt x="56498" y="987"/>
                </a:lnTo>
                <a:lnTo>
                  <a:pt x="56973" y="1343"/>
                </a:lnTo>
                <a:lnTo>
                  <a:pt x="57423" y="1754"/>
                </a:lnTo>
                <a:lnTo>
                  <a:pt x="78577" y="23940"/>
                </a:lnTo>
                <a:lnTo>
                  <a:pt x="78990" y="24391"/>
                </a:lnTo>
                <a:lnTo>
                  <a:pt x="79351" y="24868"/>
                </a:lnTo>
                <a:lnTo>
                  <a:pt x="79660" y="25371"/>
                </a:lnTo>
                <a:lnTo>
                  <a:pt x="79918" y="25900"/>
                </a:lnTo>
                <a:lnTo>
                  <a:pt x="80125" y="26455"/>
                </a:lnTo>
                <a:lnTo>
                  <a:pt x="80279" y="27035"/>
                </a:lnTo>
                <a:lnTo>
                  <a:pt x="80383" y="27641"/>
                </a:lnTo>
                <a:lnTo>
                  <a:pt x="80434" y="28273"/>
                </a:lnTo>
                <a:lnTo>
                  <a:pt x="80431" y="28906"/>
                </a:lnTo>
                <a:lnTo>
                  <a:pt x="80370" y="29512"/>
                </a:lnTo>
                <a:lnTo>
                  <a:pt x="80250" y="30092"/>
                </a:lnTo>
                <a:lnTo>
                  <a:pt x="80073" y="30647"/>
                </a:lnTo>
                <a:lnTo>
                  <a:pt x="79838" y="31176"/>
                </a:lnTo>
                <a:lnTo>
                  <a:pt x="79544" y="31679"/>
                </a:lnTo>
                <a:lnTo>
                  <a:pt x="79193" y="32156"/>
                </a:lnTo>
                <a:lnTo>
                  <a:pt x="78783" y="32607"/>
                </a:lnTo>
                <a:lnTo>
                  <a:pt x="43596" y="70374"/>
                </a:lnTo>
                <a:lnTo>
                  <a:pt x="10164" y="70374"/>
                </a:lnTo>
                <a:lnTo>
                  <a:pt x="10164" y="70374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32604" y="243966"/>
            <a:ext cx="936038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2 ·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5604" y="391921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PDF extraction (text)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5604" y="502410"/>
            <a:ext cx="125414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encoding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5604" y="612900"/>
            <a:ext cx="125414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layout / noise removal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5604" y="723390"/>
            <a:ext cx="141477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content + normalized-text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5604" y="83387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dedup (SHA-256)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82609" y="203199"/>
            <a:ext cx="1451605" cy="534668"/>
          </a:xfrm>
          <a:prstGeom prst="roundRect">
            <a:avLst>
              <a:gd name="adj" fmla="val 10000"/>
            </a:avLst>
          </a:prstGeom>
          <a:solidFill>
            <a:srgbClr val="F0EDFA"/>
          </a:solidFill>
          <a:ln w="889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268334" y="312625"/>
            <a:ext cx="37457" cy="27242"/>
          </a:xfrm>
          <a:custGeom>
            <a:avLst/>
            <a:gdLst/>
            <a:ahLst/>
            <a:cxnLst/>
            <a:rect l="l" t="t" r="r" b="b"/>
            <a:pathLst>
              <a:path w="37457" h="27242">
                <a:moveTo>
                  <a:pt x="14653" y="27242"/>
                </a:moveTo>
                <a:lnTo>
                  <a:pt x="0" y="12589"/>
                </a:lnTo>
                <a:lnTo>
                  <a:pt x="4334" y="8255"/>
                </a:lnTo>
                <a:lnTo>
                  <a:pt x="14653" y="18471"/>
                </a:lnTo>
                <a:lnTo>
                  <a:pt x="33123" y="0"/>
                </a:lnTo>
                <a:lnTo>
                  <a:pt x="37457" y="4437"/>
                </a:lnTo>
                <a:lnTo>
                  <a:pt x="14653" y="27242"/>
                </a:lnTo>
                <a:lnTo>
                  <a:pt x="14653" y="2724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268334" y="279605"/>
            <a:ext cx="37457" cy="27242"/>
          </a:xfrm>
          <a:custGeom>
            <a:avLst/>
            <a:gdLst/>
            <a:ahLst/>
            <a:cxnLst/>
            <a:rect l="l" t="t" r="r" b="b"/>
            <a:pathLst>
              <a:path w="37457" h="27242">
                <a:moveTo>
                  <a:pt x="14653" y="27242"/>
                </a:moveTo>
                <a:lnTo>
                  <a:pt x="0" y="12589"/>
                </a:lnTo>
                <a:lnTo>
                  <a:pt x="4334" y="8255"/>
                </a:lnTo>
                <a:lnTo>
                  <a:pt x="14653" y="18471"/>
                </a:lnTo>
                <a:lnTo>
                  <a:pt x="33123" y="0"/>
                </a:lnTo>
                <a:lnTo>
                  <a:pt x="37457" y="4437"/>
                </a:lnTo>
                <a:lnTo>
                  <a:pt x="14653" y="27242"/>
                </a:lnTo>
                <a:lnTo>
                  <a:pt x="14653" y="2724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313736" y="325833"/>
            <a:ext cx="37148" cy="6192"/>
          </a:xfrm>
          <a:custGeom>
            <a:avLst/>
            <a:gdLst/>
            <a:ahLst/>
            <a:cxnLst/>
            <a:rect l="l" t="t" r="r" b="b"/>
            <a:pathLst>
              <a:path w="37148" h="6192">
                <a:moveTo>
                  <a:pt x="0" y="6192"/>
                </a:moveTo>
                <a:lnTo>
                  <a:pt x="0" y="0"/>
                </a:lnTo>
                <a:lnTo>
                  <a:pt x="37148" y="0"/>
                </a:lnTo>
                <a:lnTo>
                  <a:pt x="37148" y="6192"/>
                </a:lnTo>
                <a:lnTo>
                  <a:pt x="0" y="6192"/>
                </a:lnTo>
                <a:lnTo>
                  <a:pt x="0" y="619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313736" y="292813"/>
            <a:ext cx="37148" cy="6192"/>
          </a:xfrm>
          <a:custGeom>
            <a:avLst/>
            <a:gdLst/>
            <a:ahLst/>
            <a:cxnLst/>
            <a:rect l="l" t="t" r="r" b="b"/>
            <a:pathLst>
              <a:path w="37148" h="6192">
                <a:moveTo>
                  <a:pt x="0" y="6192"/>
                </a:moveTo>
                <a:lnTo>
                  <a:pt x="0" y="0"/>
                </a:lnTo>
                <a:lnTo>
                  <a:pt x="37148" y="0"/>
                </a:lnTo>
                <a:lnTo>
                  <a:pt x="37148" y="6192"/>
                </a:lnTo>
                <a:lnTo>
                  <a:pt x="0" y="6192"/>
                </a:lnTo>
                <a:lnTo>
                  <a:pt x="0" y="619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5809" y="243966"/>
            <a:ext cx="997455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3 · Metadata 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8809" y="391921"/>
            <a:ext cx="136123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title / year / DOI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8809" y="502410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format &amp; range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8809" y="612900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manual exception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5814" y="203199"/>
            <a:ext cx="1451605" cy="866137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889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825666" y="275272"/>
            <a:ext cx="74295" cy="33019"/>
          </a:xfrm>
          <a:custGeom>
            <a:avLst/>
            <a:gdLst/>
            <a:ahLst/>
            <a:cxnLst/>
            <a:rect l="l" t="t" r="r" b="b"/>
            <a:pathLst>
              <a:path w="74295" h="33019">
                <a:moveTo>
                  <a:pt x="64028" y="27963"/>
                </a:moveTo>
                <a:lnTo>
                  <a:pt x="66434" y="26678"/>
                </a:lnTo>
                <a:lnTo>
                  <a:pt x="68520" y="25351"/>
                </a:lnTo>
                <a:lnTo>
                  <a:pt x="70284" y="23983"/>
                </a:lnTo>
                <a:lnTo>
                  <a:pt x="71728" y="22572"/>
                </a:lnTo>
                <a:lnTo>
                  <a:pt x="72851" y="21119"/>
                </a:lnTo>
                <a:lnTo>
                  <a:pt x="73653" y="19624"/>
                </a:lnTo>
                <a:lnTo>
                  <a:pt x="74135" y="18088"/>
                </a:lnTo>
                <a:lnTo>
                  <a:pt x="74295" y="16510"/>
                </a:lnTo>
                <a:lnTo>
                  <a:pt x="74135" y="14908"/>
                </a:lnTo>
                <a:lnTo>
                  <a:pt x="73653" y="13353"/>
                </a:lnTo>
                <a:lnTo>
                  <a:pt x="72851" y="11844"/>
                </a:lnTo>
                <a:lnTo>
                  <a:pt x="71728" y="10383"/>
                </a:lnTo>
                <a:lnTo>
                  <a:pt x="70284" y="8968"/>
                </a:lnTo>
                <a:lnTo>
                  <a:pt x="68520" y="7600"/>
                </a:lnTo>
                <a:lnTo>
                  <a:pt x="66434" y="6279"/>
                </a:lnTo>
                <a:lnTo>
                  <a:pt x="64028" y="5004"/>
                </a:lnTo>
                <a:lnTo>
                  <a:pt x="61362" y="3831"/>
                </a:lnTo>
                <a:lnTo>
                  <a:pt x="58498" y="2815"/>
                </a:lnTo>
                <a:lnTo>
                  <a:pt x="55435" y="1954"/>
                </a:lnTo>
                <a:lnTo>
                  <a:pt x="52174" y="1251"/>
                </a:lnTo>
                <a:lnTo>
                  <a:pt x="48715" y="703"/>
                </a:lnTo>
                <a:lnTo>
                  <a:pt x="45058" y="312"/>
                </a:lnTo>
                <a:lnTo>
                  <a:pt x="41202" y="78"/>
                </a:lnTo>
                <a:lnTo>
                  <a:pt x="37148" y="0"/>
                </a:lnTo>
                <a:lnTo>
                  <a:pt x="33094" y="78"/>
                </a:lnTo>
                <a:lnTo>
                  <a:pt x="29238" y="312"/>
                </a:lnTo>
                <a:lnTo>
                  <a:pt x="25580" y="703"/>
                </a:lnTo>
                <a:lnTo>
                  <a:pt x="22121" y="1251"/>
                </a:lnTo>
                <a:lnTo>
                  <a:pt x="18860" y="1954"/>
                </a:lnTo>
                <a:lnTo>
                  <a:pt x="15798" y="2815"/>
                </a:lnTo>
                <a:lnTo>
                  <a:pt x="12933" y="3831"/>
                </a:lnTo>
                <a:lnTo>
                  <a:pt x="10267" y="5004"/>
                </a:lnTo>
                <a:lnTo>
                  <a:pt x="7861" y="6279"/>
                </a:lnTo>
                <a:lnTo>
                  <a:pt x="5776" y="7600"/>
                </a:lnTo>
                <a:lnTo>
                  <a:pt x="4011" y="8968"/>
                </a:lnTo>
                <a:lnTo>
                  <a:pt x="2567" y="10383"/>
                </a:lnTo>
                <a:lnTo>
                  <a:pt x="1444" y="11844"/>
                </a:lnTo>
                <a:lnTo>
                  <a:pt x="642" y="13353"/>
                </a:lnTo>
                <a:lnTo>
                  <a:pt x="161" y="14908"/>
                </a:lnTo>
                <a:lnTo>
                  <a:pt x="0" y="16510"/>
                </a:lnTo>
                <a:lnTo>
                  <a:pt x="161" y="18088"/>
                </a:lnTo>
                <a:lnTo>
                  <a:pt x="642" y="19624"/>
                </a:lnTo>
                <a:lnTo>
                  <a:pt x="1444" y="21119"/>
                </a:lnTo>
                <a:lnTo>
                  <a:pt x="2567" y="22572"/>
                </a:lnTo>
                <a:lnTo>
                  <a:pt x="4011" y="23983"/>
                </a:lnTo>
                <a:lnTo>
                  <a:pt x="5776" y="25351"/>
                </a:lnTo>
                <a:lnTo>
                  <a:pt x="7861" y="26678"/>
                </a:lnTo>
                <a:lnTo>
                  <a:pt x="10267" y="27963"/>
                </a:lnTo>
                <a:lnTo>
                  <a:pt x="12933" y="29148"/>
                </a:lnTo>
                <a:lnTo>
                  <a:pt x="15798" y="30175"/>
                </a:lnTo>
                <a:lnTo>
                  <a:pt x="18860" y="31044"/>
                </a:lnTo>
                <a:lnTo>
                  <a:pt x="22121" y="31755"/>
                </a:lnTo>
                <a:lnTo>
                  <a:pt x="25580" y="32308"/>
                </a:lnTo>
                <a:lnTo>
                  <a:pt x="29238" y="32703"/>
                </a:lnTo>
                <a:lnTo>
                  <a:pt x="33094" y="32940"/>
                </a:lnTo>
                <a:lnTo>
                  <a:pt x="37148" y="33019"/>
                </a:lnTo>
                <a:lnTo>
                  <a:pt x="41202" y="32940"/>
                </a:lnTo>
                <a:lnTo>
                  <a:pt x="45058" y="32703"/>
                </a:lnTo>
                <a:lnTo>
                  <a:pt x="48715" y="32308"/>
                </a:lnTo>
                <a:lnTo>
                  <a:pt x="52174" y="31755"/>
                </a:lnTo>
                <a:lnTo>
                  <a:pt x="55435" y="31044"/>
                </a:lnTo>
                <a:lnTo>
                  <a:pt x="58498" y="30175"/>
                </a:lnTo>
                <a:lnTo>
                  <a:pt x="61362" y="29148"/>
                </a:lnTo>
                <a:lnTo>
                  <a:pt x="64028" y="27963"/>
                </a:lnTo>
                <a:lnTo>
                  <a:pt x="64028" y="27963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4825666" y="303132"/>
            <a:ext cx="74295" cy="25797"/>
          </a:xfrm>
          <a:custGeom>
            <a:avLst/>
            <a:gdLst/>
            <a:ahLst/>
            <a:cxnLst/>
            <a:rect l="l" t="t" r="r" b="b"/>
            <a:pathLst>
              <a:path w="74295" h="25797">
                <a:moveTo>
                  <a:pt x="48705" y="14601"/>
                </a:moveTo>
                <a:lnTo>
                  <a:pt x="50294" y="14367"/>
                </a:lnTo>
                <a:lnTo>
                  <a:pt x="51862" y="14101"/>
                </a:lnTo>
                <a:lnTo>
                  <a:pt x="53409" y="13805"/>
                </a:lnTo>
                <a:lnTo>
                  <a:pt x="54935" y="13479"/>
                </a:lnTo>
                <a:lnTo>
                  <a:pt x="56440" y="13122"/>
                </a:lnTo>
                <a:lnTo>
                  <a:pt x="57924" y="12734"/>
                </a:lnTo>
                <a:lnTo>
                  <a:pt x="59387" y="12316"/>
                </a:lnTo>
                <a:lnTo>
                  <a:pt x="60829" y="11867"/>
                </a:lnTo>
                <a:lnTo>
                  <a:pt x="62232" y="11385"/>
                </a:lnTo>
                <a:lnTo>
                  <a:pt x="63577" y="10870"/>
                </a:lnTo>
                <a:lnTo>
                  <a:pt x="64863" y="10321"/>
                </a:lnTo>
                <a:lnTo>
                  <a:pt x="66092" y="9738"/>
                </a:lnTo>
                <a:lnTo>
                  <a:pt x="67262" y="9122"/>
                </a:lnTo>
                <a:lnTo>
                  <a:pt x="68375" y="8471"/>
                </a:lnTo>
                <a:lnTo>
                  <a:pt x="69429" y="7787"/>
                </a:lnTo>
                <a:lnTo>
                  <a:pt x="70426" y="7068"/>
                </a:lnTo>
                <a:lnTo>
                  <a:pt x="71332" y="6315"/>
                </a:lnTo>
                <a:lnTo>
                  <a:pt x="72118" y="5524"/>
                </a:lnTo>
                <a:lnTo>
                  <a:pt x="72784" y="4696"/>
                </a:lnTo>
                <a:lnTo>
                  <a:pt x="73328" y="3831"/>
                </a:lnTo>
                <a:lnTo>
                  <a:pt x="73751" y="2929"/>
                </a:lnTo>
                <a:lnTo>
                  <a:pt x="74053" y="1990"/>
                </a:lnTo>
                <a:lnTo>
                  <a:pt x="74235" y="1013"/>
                </a:lnTo>
                <a:lnTo>
                  <a:pt x="74295" y="0"/>
                </a:lnTo>
                <a:lnTo>
                  <a:pt x="74295" y="10319"/>
                </a:lnTo>
                <a:lnTo>
                  <a:pt x="74235" y="11332"/>
                </a:lnTo>
                <a:lnTo>
                  <a:pt x="74053" y="12308"/>
                </a:lnTo>
                <a:lnTo>
                  <a:pt x="73751" y="13248"/>
                </a:lnTo>
                <a:lnTo>
                  <a:pt x="73328" y="14150"/>
                </a:lnTo>
                <a:lnTo>
                  <a:pt x="72784" y="15015"/>
                </a:lnTo>
                <a:lnTo>
                  <a:pt x="72118" y="15843"/>
                </a:lnTo>
                <a:lnTo>
                  <a:pt x="71332" y="16633"/>
                </a:lnTo>
                <a:lnTo>
                  <a:pt x="70426" y="17387"/>
                </a:lnTo>
                <a:lnTo>
                  <a:pt x="69429" y="18105"/>
                </a:lnTo>
                <a:lnTo>
                  <a:pt x="68375" y="18790"/>
                </a:lnTo>
                <a:lnTo>
                  <a:pt x="67262" y="19440"/>
                </a:lnTo>
                <a:lnTo>
                  <a:pt x="66092" y="20057"/>
                </a:lnTo>
                <a:lnTo>
                  <a:pt x="64863" y="20640"/>
                </a:lnTo>
                <a:lnTo>
                  <a:pt x="63577" y="21189"/>
                </a:lnTo>
                <a:lnTo>
                  <a:pt x="62232" y="21704"/>
                </a:lnTo>
                <a:lnTo>
                  <a:pt x="60829" y="22185"/>
                </a:lnTo>
                <a:lnTo>
                  <a:pt x="59387" y="22634"/>
                </a:lnTo>
                <a:lnTo>
                  <a:pt x="57924" y="23053"/>
                </a:lnTo>
                <a:lnTo>
                  <a:pt x="56440" y="23441"/>
                </a:lnTo>
                <a:lnTo>
                  <a:pt x="54935" y="23798"/>
                </a:lnTo>
                <a:lnTo>
                  <a:pt x="53409" y="24124"/>
                </a:lnTo>
                <a:lnTo>
                  <a:pt x="51862" y="24420"/>
                </a:lnTo>
                <a:lnTo>
                  <a:pt x="50294" y="24685"/>
                </a:lnTo>
                <a:lnTo>
                  <a:pt x="48705" y="24920"/>
                </a:lnTo>
                <a:lnTo>
                  <a:pt x="47125" y="25125"/>
                </a:lnTo>
                <a:lnTo>
                  <a:pt x="45586" y="25304"/>
                </a:lnTo>
                <a:lnTo>
                  <a:pt x="44088" y="25454"/>
                </a:lnTo>
                <a:lnTo>
                  <a:pt x="42630" y="25578"/>
                </a:lnTo>
                <a:lnTo>
                  <a:pt x="41211" y="25674"/>
                </a:lnTo>
                <a:lnTo>
                  <a:pt x="39834" y="25742"/>
                </a:lnTo>
                <a:lnTo>
                  <a:pt x="38496" y="25783"/>
                </a:lnTo>
                <a:lnTo>
                  <a:pt x="37199" y="25797"/>
                </a:lnTo>
                <a:lnTo>
                  <a:pt x="35901" y="25783"/>
                </a:lnTo>
                <a:lnTo>
                  <a:pt x="34562" y="25742"/>
                </a:lnTo>
                <a:lnTo>
                  <a:pt x="33180" y="25674"/>
                </a:lnTo>
                <a:lnTo>
                  <a:pt x="31756" y="25578"/>
                </a:lnTo>
                <a:lnTo>
                  <a:pt x="30291" y="25454"/>
                </a:lnTo>
                <a:lnTo>
                  <a:pt x="28783" y="25304"/>
                </a:lnTo>
                <a:lnTo>
                  <a:pt x="27234" y="25125"/>
                </a:lnTo>
                <a:lnTo>
                  <a:pt x="25642" y="24920"/>
                </a:lnTo>
                <a:lnTo>
                  <a:pt x="24041" y="24684"/>
                </a:lnTo>
                <a:lnTo>
                  <a:pt x="22463" y="24417"/>
                </a:lnTo>
                <a:lnTo>
                  <a:pt x="20907" y="24117"/>
                </a:lnTo>
                <a:lnTo>
                  <a:pt x="19374" y="23785"/>
                </a:lnTo>
                <a:lnTo>
                  <a:pt x="17863" y="23420"/>
                </a:lnTo>
                <a:lnTo>
                  <a:pt x="16375" y="23024"/>
                </a:lnTo>
                <a:lnTo>
                  <a:pt x="14909" y="22595"/>
                </a:lnTo>
                <a:lnTo>
                  <a:pt x="13466" y="22134"/>
                </a:lnTo>
                <a:lnTo>
                  <a:pt x="12064" y="21640"/>
                </a:lnTo>
                <a:lnTo>
                  <a:pt x="10719" y="21115"/>
                </a:lnTo>
                <a:lnTo>
                  <a:pt x="9432" y="20557"/>
                </a:lnTo>
                <a:lnTo>
                  <a:pt x="8204" y="19967"/>
                </a:lnTo>
                <a:lnTo>
                  <a:pt x="7033" y="19344"/>
                </a:lnTo>
                <a:lnTo>
                  <a:pt x="5921" y="18690"/>
                </a:lnTo>
                <a:lnTo>
                  <a:pt x="4866" y="18003"/>
                </a:lnTo>
                <a:lnTo>
                  <a:pt x="3870" y="17284"/>
                </a:lnTo>
                <a:lnTo>
                  <a:pt x="2963" y="16532"/>
                </a:lnTo>
                <a:lnTo>
                  <a:pt x="2177" y="15746"/>
                </a:lnTo>
                <a:lnTo>
                  <a:pt x="1512" y="14926"/>
                </a:lnTo>
                <a:lnTo>
                  <a:pt x="968" y="14072"/>
                </a:lnTo>
                <a:lnTo>
                  <a:pt x="544" y="13185"/>
                </a:lnTo>
                <a:lnTo>
                  <a:pt x="242" y="12263"/>
                </a:lnTo>
                <a:lnTo>
                  <a:pt x="61" y="11308"/>
                </a:lnTo>
                <a:lnTo>
                  <a:pt x="0" y="10319"/>
                </a:lnTo>
                <a:lnTo>
                  <a:pt x="0" y="0"/>
                </a:lnTo>
                <a:lnTo>
                  <a:pt x="61" y="989"/>
                </a:lnTo>
                <a:lnTo>
                  <a:pt x="242" y="1945"/>
                </a:lnTo>
                <a:lnTo>
                  <a:pt x="544" y="2866"/>
                </a:lnTo>
                <a:lnTo>
                  <a:pt x="968" y="3754"/>
                </a:lnTo>
                <a:lnTo>
                  <a:pt x="1512" y="4607"/>
                </a:lnTo>
                <a:lnTo>
                  <a:pt x="2177" y="5427"/>
                </a:lnTo>
                <a:lnTo>
                  <a:pt x="2963" y="6213"/>
                </a:lnTo>
                <a:lnTo>
                  <a:pt x="3870" y="6965"/>
                </a:lnTo>
                <a:lnTo>
                  <a:pt x="4866" y="7684"/>
                </a:lnTo>
                <a:lnTo>
                  <a:pt x="5921" y="8371"/>
                </a:lnTo>
                <a:lnTo>
                  <a:pt x="7033" y="9026"/>
                </a:lnTo>
                <a:lnTo>
                  <a:pt x="8204" y="9648"/>
                </a:lnTo>
                <a:lnTo>
                  <a:pt x="9432" y="10238"/>
                </a:lnTo>
                <a:lnTo>
                  <a:pt x="10719" y="10796"/>
                </a:lnTo>
                <a:lnTo>
                  <a:pt x="12064" y="11322"/>
                </a:lnTo>
                <a:lnTo>
                  <a:pt x="13466" y="11815"/>
                </a:lnTo>
                <a:lnTo>
                  <a:pt x="14909" y="12276"/>
                </a:lnTo>
                <a:lnTo>
                  <a:pt x="16375" y="12705"/>
                </a:lnTo>
                <a:lnTo>
                  <a:pt x="17863" y="13102"/>
                </a:lnTo>
                <a:lnTo>
                  <a:pt x="19374" y="13466"/>
                </a:lnTo>
                <a:lnTo>
                  <a:pt x="20907" y="13798"/>
                </a:lnTo>
                <a:lnTo>
                  <a:pt x="22463" y="14098"/>
                </a:lnTo>
                <a:lnTo>
                  <a:pt x="24041" y="14366"/>
                </a:lnTo>
                <a:lnTo>
                  <a:pt x="25642" y="14601"/>
                </a:lnTo>
                <a:lnTo>
                  <a:pt x="27234" y="14807"/>
                </a:lnTo>
                <a:lnTo>
                  <a:pt x="28783" y="14985"/>
                </a:lnTo>
                <a:lnTo>
                  <a:pt x="30291" y="15136"/>
                </a:lnTo>
                <a:lnTo>
                  <a:pt x="31756" y="15259"/>
                </a:lnTo>
                <a:lnTo>
                  <a:pt x="33180" y="15355"/>
                </a:lnTo>
                <a:lnTo>
                  <a:pt x="34562" y="15423"/>
                </a:lnTo>
                <a:lnTo>
                  <a:pt x="35901" y="15464"/>
                </a:lnTo>
                <a:lnTo>
                  <a:pt x="37199" y="15478"/>
                </a:lnTo>
                <a:lnTo>
                  <a:pt x="38496" y="15464"/>
                </a:lnTo>
                <a:lnTo>
                  <a:pt x="39834" y="15423"/>
                </a:lnTo>
                <a:lnTo>
                  <a:pt x="41211" y="15355"/>
                </a:lnTo>
                <a:lnTo>
                  <a:pt x="42630" y="15259"/>
                </a:lnTo>
                <a:lnTo>
                  <a:pt x="44088" y="15136"/>
                </a:lnTo>
                <a:lnTo>
                  <a:pt x="45586" y="14985"/>
                </a:lnTo>
                <a:lnTo>
                  <a:pt x="47125" y="14807"/>
                </a:lnTo>
                <a:lnTo>
                  <a:pt x="48705" y="14601"/>
                </a:lnTo>
                <a:lnTo>
                  <a:pt x="48705" y="14601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825666" y="323770"/>
            <a:ext cx="74295" cy="25796"/>
          </a:xfrm>
          <a:custGeom>
            <a:avLst/>
            <a:gdLst/>
            <a:ahLst/>
            <a:cxnLst/>
            <a:rect l="l" t="t" r="r" b="b"/>
            <a:pathLst>
              <a:path w="74295" h="25796">
                <a:moveTo>
                  <a:pt x="48705" y="14601"/>
                </a:moveTo>
                <a:lnTo>
                  <a:pt x="50294" y="14366"/>
                </a:lnTo>
                <a:lnTo>
                  <a:pt x="51862" y="14101"/>
                </a:lnTo>
                <a:lnTo>
                  <a:pt x="53409" y="13805"/>
                </a:lnTo>
                <a:lnTo>
                  <a:pt x="54935" y="13478"/>
                </a:lnTo>
                <a:lnTo>
                  <a:pt x="56440" y="13121"/>
                </a:lnTo>
                <a:lnTo>
                  <a:pt x="57924" y="12733"/>
                </a:lnTo>
                <a:lnTo>
                  <a:pt x="59387" y="12315"/>
                </a:lnTo>
                <a:lnTo>
                  <a:pt x="60829" y="11866"/>
                </a:lnTo>
                <a:lnTo>
                  <a:pt x="62232" y="11385"/>
                </a:lnTo>
                <a:lnTo>
                  <a:pt x="63577" y="10870"/>
                </a:lnTo>
                <a:lnTo>
                  <a:pt x="64863" y="10321"/>
                </a:lnTo>
                <a:lnTo>
                  <a:pt x="66092" y="9738"/>
                </a:lnTo>
                <a:lnTo>
                  <a:pt x="67262" y="9121"/>
                </a:lnTo>
                <a:lnTo>
                  <a:pt x="68375" y="8471"/>
                </a:lnTo>
                <a:lnTo>
                  <a:pt x="69429" y="7786"/>
                </a:lnTo>
                <a:lnTo>
                  <a:pt x="70426" y="7068"/>
                </a:lnTo>
                <a:lnTo>
                  <a:pt x="71332" y="6314"/>
                </a:lnTo>
                <a:lnTo>
                  <a:pt x="72118" y="5523"/>
                </a:lnTo>
                <a:lnTo>
                  <a:pt x="72784" y="4695"/>
                </a:lnTo>
                <a:lnTo>
                  <a:pt x="73328" y="3830"/>
                </a:lnTo>
                <a:lnTo>
                  <a:pt x="73751" y="2928"/>
                </a:lnTo>
                <a:lnTo>
                  <a:pt x="74053" y="1989"/>
                </a:lnTo>
                <a:lnTo>
                  <a:pt x="74235" y="1013"/>
                </a:lnTo>
                <a:lnTo>
                  <a:pt x="74295" y="0"/>
                </a:lnTo>
                <a:lnTo>
                  <a:pt x="74295" y="10318"/>
                </a:lnTo>
                <a:lnTo>
                  <a:pt x="74235" y="11332"/>
                </a:lnTo>
                <a:lnTo>
                  <a:pt x="74053" y="12308"/>
                </a:lnTo>
                <a:lnTo>
                  <a:pt x="73751" y="13247"/>
                </a:lnTo>
                <a:lnTo>
                  <a:pt x="73328" y="14149"/>
                </a:lnTo>
                <a:lnTo>
                  <a:pt x="72784" y="15014"/>
                </a:lnTo>
                <a:lnTo>
                  <a:pt x="72118" y="15842"/>
                </a:lnTo>
                <a:lnTo>
                  <a:pt x="71332" y="16633"/>
                </a:lnTo>
                <a:lnTo>
                  <a:pt x="70426" y="17387"/>
                </a:lnTo>
                <a:lnTo>
                  <a:pt x="69429" y="18105"/>
                </a:lnTo>
                <a:lnTo>
                  <a:pt x="68375" y="18789"/>
                </a:lnTo>
                <a:lnTo>
                  <a:pt x="67262" y="19440"/>
                </a:lnTo>
                <a:lnTo>
                  <a:pt x="66092" y="20057"/>
                </a:lnTo>
                <a:lnTo>
                  <a:pt x="64863" y="20639"/>
                </a:lnTo>
                <a:lnTo>
                  <a:pt x="63577" y="21188"/>
                </a:lnTo>
                <a:lnTo>
                  <a:pt x="62232" y="21704"/>
                </a:lnTo>
                <a:lnTo>
                  <a:pt x="60829" y="22185"/>
                </a:lnTo>
                <a:lnTo>
                  <a:pt x="59387" y="22634"/>
                </a:lnTo>
                <a:lnTo>
                  <a:pt x="57924" y="23052"/>
                </a:lnTo>
                <a:lnTo>
                  <a:pt x="56440" y="23440"/>
                </a:lnTo>
                <a:lnTo>
                  <a:pt x="54935" y="23797"/>
                </a:lnTo>
                <a:lnTo>
                  <a:pt x="53409" y="24124"/>
                </a:lnTo>
                <a:lnTo>
                  <a:pt x="51862" y="24419"/>
                </a:lnTo>
                <a:lnTo>
                  <a:pt x="50294" y="24685"/>
                </a:lnTo>
                <a:lnTo>
                  <a:pt x="48705" y="24919"/>
                </a:lnTo>
                <a:lnTo>
                  <a:pt x="47125" y="25125"/>
                </a:lnTo>
                <a:lnTo>
                  <a:pt x="45586" y="25303"/>
                </a:lnTo>
                <a:lnTo>
                  <a:pt x="44088" y="25454"/>
                </a:lnTo>
                <a:lnTo>
                  <a:pt x="42630" y="25577"/>
                </a:lnTo>
                <a:lnTo>
                  <a:pt x="41211" y="25673"/>
                </a:lnTo>
                <a:lnTo>
                  <a:pt x="39834" y="25742"/>
                </a:lnTo>
                <a:lnTo>
                  <a:pt x="38496" y="25783"/>
                </a:lnTo>
                <a:lnTo>
                  <a:pt x="37199" y="25796"/>
                </a:lnTo>
                <a:lnTo>
                  <a:pt x="35901" y="25783"/>
                </a:lnTo>
                <a:lnTo>
                  <a:pt x="34562" y="25742"/>
                </a:lnTo>
                <a:lnTo>
                  <a:pt x="33180" y="25673"/>
                </a:lnTo>
                <a:lnTo>
                  <a:pt x="31756" y="25577"/>
                </a:lnTo>
                <a:lnTo>
                  <a:pt x="30291" y="25454"/>
                </a:lnTo>
                <a:lnTo>
                  <a:pt x="28783" y="25303"/>
                </a:lnTo>
                <a:lnTo>
                  <a:pt x="27234" y="25125"/>
                </a:lnTo>
                <a:lnTo>
                  <a:pt x="25642" y="24919"/>
                </a:lnTo>
                <a:lnTo>
                  <a:pt x="24041" y="24684"/>
                </a:lnTo>
                <a:lnTo>
                  <a:pt x="22463" y="24416"/>
                </a:lnTo>
                <a:lnTo>
                  <a:pt x="20907" y="24116"/>
                </a:lnTo>
                <a:lnTo>
                  <a:pt x="19374" y="23784"/>
                </a:lnTo>
                <a:lnTo>
                  <a:pt x="17863" y="23420"/>
                </a:lnTo>
                <a:lnTo>
                  <a:pt x="16375" y="23023"/>
                </a:lnTo>
                <a:lnTo>
                  <a:pt x="14909" y="22594"/>
                </a:lnTo>
                <a:lnTo>
                  <a:pt x="13466" y="22133"/>
                </a:lnTo>
                <a:lnTo>
                  <a:pt x="12064" y="21640"/>
                </a:lnTo>
                <a:lnTo>
                  <a:pt x="10719" y="21114"/>
                </a:lnTo>
                <a:lnTo>
                  <a:pt x="9432" y="20556"/>
                </a:lnTo>
                <a:lnTo>
                  <a:pt x="8204" y="19966"/>
                </a:lnTo>
                <a:lnTo>
                  <a:pt x="7033" y="19344"/>
                </a:lnTo>
                <a:lnTo>
                  <a:pt x="5921" y="18689"/>
                </a:lnTo>
                <a:lnTo>
                  <a:pt x="4866" y="18002"/>
                </a:lnTo>
                <a:lnTo>
                  <a:pt x="3870" y="17283"/>
                </a:lnTo>
                <a:lnTo>
                  <a:pt x="2963" y="16531"/>
                </a:lnTo>
                <a:lnTo>
                  <a:pt x="2177" y="15745"/>
                </a:lnTo>
                <a:lnTo>
                  <a:pt x="1512" y="14925"/>
                </a:lnTo>
                <a:lnTo>
                  <a:pt x="968" y="14072"/>
                </a:lnTo>
                <a:lnTo>
                  <a:pt x="544" y="13184"/>
                </a:lnTo>
                <a:lnTo>
                  <a:pt x="242" y="12263"/>
                </a:lnTo>
                <a:lnTo>
                  <a:pt x="61" y="11307"/>
                </a:lnTo>
                <a:lnTo>
                  <a:pt x="0" y="10318"/>
                </a:lnTo>
                <a:lnTo>
                  <a:pt x="0" y="0"/>
                </a:lnTo>
                <a:lnTo>
                  <a:pt x="61" y="989"/>
                </a:lnTo>
                <a:lnTo>
                  <a:pt x="242" y="1944"/>
                </a:lnTo>
                <a:lnTo>
                  <a:pt x="544" y="2865"/>
                </a:lnTo>
                <a:lnTo>
                  <a:pt x="968" y="3753"/>
                </a:lnTo>
                <a:lnTo>
                  <a:pt x="1512" y="4607"/>
                </a:lnTo>
                <a:lnTo>
                  <a:pt x="2177" y="5427"/>
                </a:lnTo>
                <a:lnTo>
                  <a:pt x="2963" y="6213"/>
                </a:lnTo>
                <a:lnTo>
                  <a:pt x="3870" y="6965"/>
                </a:lnTo>
                <a:lnTo>
                  <a:pt x="4866" y="7684"/>
                </a:lnTo>
                <a:lnTo>
                  <a:pt x="5921" y="8371"/>
                </a:lnTo>
                <a:lnTo>
                  <a:pt x="7033" y="9025"/>
                </a:lnTo>
                <a:lnTo>
                  <a:pt x="8204" y="9648"/>
                </a:lnTo>
                <a:lnTo>
                  <a:pt x="9432" y="10238"/>
                </a:lnTo>
                <a:lnTo>
                  <a:pt x="10719" y="10795"/>
                </a:lnTo>
                <a:lnTo>
                  <a:pt x="12064" y="11321"/>
                </a:lnTo>
                <a:lnTo>
                  <a:pt x="13466" y="11814"/>
                </a:lnTo>
                <a:lnTo>
                  <a:pt x="14909" y="12276"/>
                </a:lnTo>
                <a:lnTo>
                  <a:pt x="16375" y="12704"/>
                </a:lnTo>
                <a:lnTo>
                  <a:pt x="17863" y="13101"/>
                </a:lnTo>
                <a:lnTo>
                  <a:pt x="19374" y="13465"/>
                </a:lnTo>
                <a:lnTo>
                  <a:pt x="20907" y="13798"/>
                </a:lnTo>
                <a:lnTo>
                  <a:pt x="22463" y="14097"/>
                </a:lnTo>
                <a:lnTo>
                  <a:pt x="24041" y="14365"/>
                </a:lnTo>
                <a:lnTo>
                  <a:pt x="25642" y="14601"/>
                </a:lnTo>
                <a:lnTo>
                  <a:pt x="27234" y="14806"/>
                </a:lnTo>
                <a:lnTo>
                  <a:pt x="28783" y="14984"/>
                </a:lnTo>
                <a:lnTo>
                  <a:pt x="30291" y="15135"/>
                </a:lnTo>
                <a:lnTo>
                  <a:pt x="31756" y="15258"/>
                </a:lnTo>
                <a:lnTo>
                  <a:pt x="33180" y="15354"/>
                </a:lnTo>
                <a:lnTo>
                  <a:pt x="34562" y="15423"/>
                </a:lnTo>
                <a:lnTo>
                  <a:pt x="35901" y="15464"/>
                </a:lnTo>
                <a:lnTo>
                  <a:pt x="37199" y="15478"/>
                </a:lnTo>
                <a:lnTo>
                  <a:pt x="38496" y="15464"/>
                </a:lnTo>
                <a:lnTo>
                  <a:pt x="39834" y="15423"/>
                </a:lnTo>
                <a:lnTo>
                  <a:pt x="41211" y="15354"/>
                </a:lnTo>
                <a:lnTo>
                  <a:pt x="42630" y="15258"/>
                </a:lnTo>
                <a:lnTo>
                  <a:pt x="44088" y="15135"/>
                </a:lnTo>
                <a:lnTo>
                  <a:pt x="45586" y="14984"/>
                </a:lnTo>
                <a:lnTo>
                  <a:pt x="47125" y="14806"/>
                </a:lnTo>
                <a:lnTo>
                  <a:pt x="48705" y="14601"/>
                </a:lnTo>
                <a:lnTo>
                  <a:pt x="48705" y="14601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9013" y="243966"/>
            <a:ext cx="1181706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4 · Chunks &amp; 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2014" y="391921"/>
            <a:ext cx="146831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heading-based 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2014" y="502410"/>
            <a:ext cx="136123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recursive chunks (target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2014" y="612900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≈ 800 chars)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2014" y="723390"/>
            <a:ext cx="136123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dense e5-large · LanceDB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2014" y="83387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sparse BM25Plus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2014" y="944369"/>
            <a:ext cx="136123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frozen snapshot+manifest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43045" y="533398"/>
            <a:ext cx="71120" cy="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96250" y="533398"/>
            <a:ext cx="71119" cy="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649454" y="533398"/>
            <a:ext cx="71120" cy="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909047" y="873757"/>
            <a:ext cx="0" cy="76200"/>
          </a:xfrm>
          <a:prstGeom prst="line">
            <a:avLst/>
          </a:prstGeom>
          <a:ln w="8890">
            <a:solidFill>
              <a:srgbClr val="C8755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284209" y="975357"/>
            <a:ext cx="1400805" cy="190499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5009" y="963419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1">
                <a:solidFill>
                  <a:srgbClr val="C87558"/>
                </a:solidFill>
                <a:latin typeface="Arial"/>
              </a:rPr>
              <a:t>excluded / flagged: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5009" y="1062478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unparseable · too short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00" y="1054731"/>
            <a:ext cx="418641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6343B"/>
                </a:solidFill>
                <a:latin typeface="Arial"/>
              </a:rPr>
              <a:t>(b) Dataset, source collection and resource class (chunks)</a:t>
            </a:r>
          </a:p>
        </p:txBody>
      </p:sp>
      <p:sp>
        <p:nvSpPr>
          <p:cNvPr id="49" name="Freeform 48"/>
          <p:cNvSpPr/>
          <p:nvPr/>
        </p:nvSpPr>
        <p:spPr>
          <a:xfrm>
            <a:off x="1269996" y="1269996"/>
            <a:ext cx="431798" cy="1904993"/>
          </a:xfrm>
          <a:custGeom>
            <a:avLst/>
            <a:gdLst/>
            <a:ahLst/>
            <a:cxnLst/>
            <a:rect l="l" t="t" r="r" b="b"/>
            <a:pathLst>
              <a:path w="431798" h="1904993">
                <a:moveTo>
                  <a:pt x="431798" y="0"/>
                </a:moveTo>
                <a:lnTo>
                  <a:pt x="0" y="1168396"/>
                </a:lnTo>
                <a:lnTo>
                  <a:pt x="25400" y="1904993"/>
                </a:lnTo>
                <a:lnTo>
                  <a:pt x="431798" y="1097276"/>
                </a:lnTo>
                <a:close/>
              </a:path>
            </a:pathLst>
          </a:custGeom>
          <a:solidFill>
            <a:srgbClr val="68A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537965" y="1537965"/>
            <a:ext cx="905507" cy="1637024"/>
          </a:xfrm>
          <a:custGeom>
            <a:avLst/>
            <a:gdLst/>
            <a:ahLst/>
            <a:cxnLst/>
            <a:rect l="l" t="t" r="r" b="b"/>
            <a:pathLst>
              <a:path w="905507" h="1637024">
                <a:moveTo>
                  <a:pt x="163829" y="0"/>
                </a:moveTo>
                <a:lnTo>
                  <a:pt x="0" y="900427"/>
                </a:lnTo>
                <a:lnTo>
                  <a:pt x="905507" y="1637024"/>
                </a:lnTo>
                <a:lnTo>
                  <a:pt x="163829" y="1482085"/>
                </a:lnTo>
                <a:close/>
              </a:path>
            </a:pathLst>
          </a:custGeom>
          <a:solidFill>
            <a:srgbClr val="83A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682744" y="1682744"/>
            <a:ext cx="1413506" cy="1581145"/>
          </a:xfrm>
          <a:custGeom>
            <a:avLst/>
            <a:gdLst/>
            <a:ahLst/>
            <a:cxnLst/>
            <a:rect l="l" t="t" r="r" b="b"/>
            <a:pathLst>
              <a:path w="1413506" h="1581145">
                <a:moveTo>
                  <a:pt x="19050" y="0"/>
                </a:moveTo>
                <a:lnTo>
                  <a:pt x="0" y="755648"/>
                </a:lnTo>
                <a:lnTo>
                  <a:pt x="1413506" y="1492245"/>
                </a:lnTo>
                <a:lnTo>
                  <a:pt x="19050" y="1581145"/>
                </a:lnTo>
                <a:close/>
              </a:path>
            </a:pathLst>
          </a:custGeom>
          <a:solidFill>
            <a:srgbClr val="D1B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701794" y="1723384"/>
            <a:ext cx="1638295" cy="1727194"/>
          </a:xfrm>
          <a:custGeom>
            <a:avLst/>
            <a:gdLst/>
            <a:ahLst/>
            <a:cxnLst/>
            <a:rect l="l" t="t" r="r" b="b"/>
            <a:pathLst>
              <a:path w="1638295" h="1727194">
                <a:moveTo>
                  <a:pt x="0" y="0"/>
                </a:moveTo>
                <a:lnTo>
                  <a:pt x="21590" y="715008"/>
                </a:lnTo>
                <a:lnTo>
                  <a:pt x="1638295" y="1451605"/>
                </a:lnTo>
                <a:lnTo>
                  <a:pt x="0" y="1727194"/>
                </a:lnTo>
                <a:close/>
              </a:path>
            </a:pathLst>
          </a:custGeom>
          <a:solidFill>
            <a:srgbClr val="9F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701794" y="2438392"/>
            <a:ext cx="1824984" cy="1313175"/>
          </a:xfrm>
          <a:custGeom>
            <a:avLst/>
            <a:gdLst/>
            <a:ahLst/>
            <a:cxnLst/>
            <a:rect l="l" t="t" r="r" b="b"/>
            <a:pathLst>
              <a:path w="1824984" h="1313175">
                <a:moveTo>
                  <a:pt x="0" y="834387"/>
                </a:moveTo>
                <a:lnTo>
                  <a:pt x="1570985" y="0"/>
                </a:lnTo>
                <a:lnTo>
                  <a:pt x="1824984" y="736597"/>
                </a:lnTo>
                <a:lnTo>
                  <a:pt x="0" y="1313175"/>
                </a:lnTo>
                <a:close/>
              </a:path>
            </a:pathLst>
          </a:custGeom>
          <a:solidFill>
            <a:srgbClr val="D8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701794" y="2438392"/>
            <a:ext cx="2125973" cy="1427475"/>
          </a:xfrm>
          <a:custGeom>
            <a:avLst/>
            <a:gdLst/>
            <a:ahLst/>
            <a:cxnLst/>
            <a:rect l="l" t="t" r="r" b="b"/>
            <a:pathLst>
              <a:path w="2125973" h="1427475">
                <a:moveTo>
                  <a:pt x="0" y="1135376"/>
                </a:moveTo>
                <a:lnTo>
                  <a:pt x="1871974" y="0"/>
                </a:lnTo>
                <a:lnTo>
                  <a:pt x="2125973" y="736597"/>
                </a:lnTo>
                <a:lnTo>
                  <a:pt x="0" y="1427475"/>
                </a:lnTo>
                <a:close/>
              </a:path>
            </a:pathLst>
          </a:custGeom>
          <a:solidFill>
            <a:srgbClr val="D1B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701794" y="2438392"/>
            <a:ext cx="2240273" cy="1541775"/>
          </a:xfrm>
          <a:custGeom>
            <a:avLst/>
            <a:gdLst/>
            <a:ahLst/>
            <a:cxnLst/>
            <a:rect l="l" t="t" r="r" b="b"/>
            <a:pathLst>
              <a:path w="2240273" h="1541775">
                <a:moveTo>
                  <a:pt x="0" y="1154426"/>
                </a:moveTo>
                <a:lnTo>
                  <a:pt x="1891024" y="0"/>
                </a:lnTo>
                <a:lnTo>
                  <a:pt x="2240273" y="736597"/>
                </a:lnTo>
                <a:lnTo>
                  <a:pt x="0" y="1541775"/>
                </a:lnTo>
                <a:close/>
              </a:path>
            </a:pathLst>
          </a:custGeom>
          <a:solidFill>
            <a:srgbClr val="9F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295396" y="1295396"/>
            <a:ext cx="2285992" cy="3225789"/>
          </a:xfrm>
          <a:custGeom>
            <a:avLst/>
            <a:gdLst/>
            <a:ahLst/>
            <a:cxnLst/>
            <a:rect l="l" t="t" r="r" b="b"/>
            <a:pathLst>
              <a:path w="2285992" h="3225789">
                <a:moveTo>
                  <a:pt x="2285992" y="0"/>
                </a:moveTo>
                <a:lnTo>
                  <a:pt x="0" y="2755890"/>
                </a:lnTo>
                <a:lnTo>
                  <a:pt x="0" y="3225789"/>
                </a:lnTo>
                <a:lnTo>
                  <a:pt x="2285992" y="1758944"/>
                </a:lnTo>
                <a:close/>
              </a:path>
            </a:pathLst>
          </a:custGeom>
          <a:solidFill>
            <a:srgbClr val="68A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295396" y="2443472"/>
            <a:ext cx="2285992" cy="2077713"/>
          </a:xfrm>
          <a:custGeom>
            <a:avLst/>
            <a:gdLst/>
            <a:ahLst/>
            <a:cxnLst/>
            <a:rect l="l" t="t" r="r" b="b"/>
            <a:pathLst>
              <a:path w="2285992" h="2077713">
                <a:moveTo>
                  <a:pt x="2285992" y="0"/>
                </a:moveTo>
                <a:lnTo>
                  <a:pt x="1148076" y="1607814"/>
                </a:lnTo>
                <a:lnTo>
                  <a:pt x="0" y="2077713"/>
                </a:lnTo>
                <a:lnTo>
                  <a:pt x="2285992" y="610868"/>
                </a:lnTo>
                <a:close/>
              </a:path>
            </a:pathLst>
          </a:custGeom>
          <a:solidFill>
            <a:srgbClr val="68A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096250" y="3096250"/>
            <a:ext cx="485138" cy="1424935"/>
          </a:xfrm>
          <a:custGeom>
            <a:avLst/>
            <a:gdLst/>
            <a:ahLst/>
            <a:cxnLst/>
            <a:rect l="l" t="t" r="r" b="b"/>
            <a:pathLst>
              <a:path w="485138" h="1424935">
                <a:moveTo>
                  <a:pt x="485138" y="0"/>
                </a:moveTo>
                <a:lnTo>
                  <a:pt x="0" y="955036"/>
                </a:lnTo>
                <a:lnTo>
                  <a:pt x="34290" y="1424935"/>
                </a:lnTo>
                <a:lnTo>
                  <a:pt x="485138" y="205739"/>
                </a:lnTo>
                <a:close/>
              </a:path>
            </a:pathLst>
          </a:custGeom>
          <a:solidFill>
            <a:srgbClr val="D1B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295396" y="3054340"/>
            <a:ext cx="2285992" cy="1466845"/>
          </a:xfrm>
          <a:custGeom>
            <a:avLst/>
            <a:gdLst/>
            <a:ahLst/>
            <a:cxnLst/>
            <a:rect l="l" t="t" r="r" b="b"/>
            <a:pathLst>
              <a:path w="2285992" h="1466845">
                <a:moveTo>
                  <a:pt x="2285992" y="285749"/>
                </a:moveTo>
                <a:lnTo>
                  <a:pt x="2044693" y="996946"/>
                </a:lnTo>
                <a:lnTo>
                  <a:pt x="0" y="1466845"/>
                </a:lnTo>
                <a:lnTo>
                  <a:pt x="2285992" y="0"/>
                </a:lnTo>
                <a:close/>
              </a:path>
            </a:pathLst>
          </a:custGeom>
          <a:solidFill>
            <a:srgbClr val="68A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378189" y="3526778"/>
            <a:ext cx="203199" cy="994407"/>
          </a:xfrm>
          <a:custGeom>
            <a:avLst/>
            <a:gdLst/>
            <a:ahLst/>
            <a:cxnLst/>
            <a:rect l="l" t="t" r="r" b="b"/>
            <a:pathLst>
              <a:path w="203199" h="994407">
                <a:moveTo>
                  <a:pt x="203199" y="0"/>
                </a:moveTo>
                <a:lnTo>
                  <a:pt x="148589" y="524508"/>
                </a:lnTo>
                <a:lnTo>
                  <a:pt x="0" y="994407"/>
                </a:lnTo>
                <a:lnTo>
                  <a:pt x="203199" y="76200"/>
                </a:lnTo>
                <a:close/>
              </a:path>
            </a:pathLst>
          </a:custGeom>
          <a:solidFill>
            <a:srgbClr val="D8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581388" y="3717278"/>
            <a:ext cx="246379" cy="803907"/>
          </a:xfrm>
          <a:custGeom>
            <a:avLst/>
            <a:gdLst/>
            <a:ahLst/>
            <a:cxnLst/>
            <a:rect l="l" t="t" r="r" b="b"/>
            <a:pathLst>
              <a:path w="246379" h="803907">
                <a:moveTo>
                  <a:pt x="0" y="110489"/>
                </a:moveTo>
                <a:lnTo>
                  <a:pt x="246379" y="334008"/>
                </a:lnTo>
                <a:lnTo>
                  <a:pt x="97790" y="803907"/>
                </a:lnTo>
                <a:lnTo>
                  <a:pt x="0" y="0"/>
                </a:lnTo>
                <a:close/>
              </a:path>
            </a:pathLst>
          </a:custGeom>
          <a:solidFill>
            <a:srgbClr val="9F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130540" y="3301989"/>
            <a:ext cx="811527" cy="1219196"/>
          </a:xfrm>
          <a:custGeom>
            <a:avLst/>
            <a:gdLst/>
            <a:ahLst/>
            <a:cxnLst/>
            <a:rect l="l" t="t" r="r" b="b"/>
            <a:pathLst>
              <a:path w="811527" h="1219196">
                <a:moveTo>
                  <a:pt x="450848" y="640078"/>
                </a:moveTo>
                <a:lnTo>
                  <a:pt x="811527" y="749297"/>
                </a:lnTo>
                <a:lnTo>
                  <a:pt x="0" y="1219196"/>
                </a:lnTo>
                <a:lnTo>
                  <a:pt x="450848" y="0"/>
                </a:lnTo>
                <a:close/>
              </a:path>
            </a:pathLst>
          </a:custGeom>
          <a:solidFill>
            <a:srgbClr val="D1B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800" y="1300603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Dataset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20796" y="1295396"/>
            <a:ext cx="380999" cy="1926584"/>
          </a:xfrm>
          <a:prstGeom prst="roundRect">
            <a:avLst>
              <a:gd name="adj" fmla="val 10000"/>
            </a:avLst>
          </a:pr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" y="2061965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Main corpus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00" y="2172201"/>
            <a:ext cx="47304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26343B"/>
                </a:solidFill>
                <a:latin typeface="Arial"/>
              </a:rPr>
              <a:t>112,890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20796" y="3298179"/>
            <a:ext cx="380999" cy="224789"/>
          </a:xfrm>
          <a:prstGeom prst="roundRect">
            <a:avLst>
              <a:gd name="adj" fmla="val 10000"/>
            </a:avLst>
          </a:pr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6200" y="3159241"/>
            <a:ext cx="61163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Translated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" y="3269731"/>
            <a:ext cx="61163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literature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200" y="3379967"/>
            <a:ext cx="416355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26343B"/>
                </a:solidFill>
                <a:latin typeface="Arial"/>
              </a:rPr>
              <a:t>13,137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20796" y="3599168"/>
            <a:ext cx="380999" cy="38100"/>
          </a:xfrm>
          <a:prstGeom prst="roundRect">
            <a:avLst>
              <a:gd name="adj" fmla="val 10000"/>
            </a:avLst>
          </a:pr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200" y="3420861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Special resources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0" y="3531096"/>
            <a:ext cx="24627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20" b="1">
                <a:solidFill>
                  <a:srgbClr val="26343B"/>
                </a:solidFill>
                <a:latin typeface="Arial"/>
              </a:rPr>
              <a:t>467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81388" y="1300603"/>
            <a:ext cx="112028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Source collection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389" y="1295396"/>
            <a:ext cx="380999" cy="1071876"/>
          </a:xfrm>
          <a:prstGeom prst="roundRect">
            <a:avLst>
              <a:gd name="adj" fmla="val 10000"/>
            </a:avLst>
          </a:pr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78383" y="1717796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Parsed literature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78383" y="1829556"/>
            <a:ext cx="39745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62,803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00389" y="2443472"/>
            <a:ext cx="380999" cy="576578"/>
          </a:xfrm>
          <a:prstGeom prst="roundRect">
            <a:avLst>
              <a:gd name="adj" fmla="val 10000"/>
            </a:avLst>
          </a:pr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78383" y="2618223"/>
            <a:ext cx="136123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Supplementary literature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78383" y="2729983"/>
            <a:ext cx="39745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33,790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0389" y="3096250"/>
            <a:ext cx="380999" cy="167639"/>
          </a:xfrm>
          <a:prstGeom prst="roundRect">
            <a:avLst>
              <a:gd name="adj" fmla="val 10000"/>
            </a:avLst>
          </a:pr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78383" y="3066532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UCR germplasm resources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78383" y="3178291"/>
            <a:ext cx="34391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9,801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00389" y="3340089"/>
            <a:ext cx="380999" cy="110490"/>
          </a:xfrm>
          <a:prstGeom prst="roundRect">
            <a:avLst>
              <a:gd name="adj" fmla="val 10000"/>
            </a:avLst>
          </a:pr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78383" y="3282431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Additional literature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78383" y="3394191"/>
            <a:ext cx="34391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6,496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00389" y="3526778"/>
            <a:ext cx="380999" cy="224789"/>
          </a:xfrm>
          <a:prstGeom prst="roundRect">
            <a:avLst>
              <a:gd name="adj" fmla="val 10000"/>
            </a:avLst>
          </a:pr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78383" y="3525000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CN→EN translated corpus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78383" y="3636760"/>
            <a:ext cx="39745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13,137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00389" y="3827767"/>
            <a:ext cx="380999" cy="38100"/>
          </a:xfrm>
          <a:prstGeom prst="roundRect">
            <a:avLst>
              <a:gd name="adj" fmla="val 10000"/>
            </a:avLst>
          </a:pr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78383" y="3733279"/>
            <a:ext cx="114706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Experimental methods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78383" y="3845039"/>
            <a:ext cx="23682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250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00389" y="3942067"/>
            <a:ext cx="380999" cy="38100"/>
          </a:xfrm>
          <a:prstGeom prst="roundRect">
            <a:avLst>
              <a:gd name="adj" fmla="val 10000"/>
            </a:avLst>
          </a:pr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78383" y="3903459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Citrus monograph  217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78383" y="1300603"/>
            <a:ext cx="936038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Resource class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46585" y="1295396"/>
            <a:ext cx="380999" cy="1758944"/>
          </a:xfrm>
          <a:prstGeom prst="roundRect">
            <a:avLst>
              <a:gd name="adj" fmla="val 10000"/>
            </a:avLst>
          </a:pr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78383" y="2061965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Research literature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78383" y="2173725"/>
            <a:ext cx="45100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103,089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46585" y="3130540"/>
            <a:ext cx="380999" cy="171449"/>
          </a:xfrm>
          <a:prstGeom prst="roundRect">
            <a:avLst>
              <a:gd name="adj" fmla="val 10000"/>
            </a:avLst>
          </a:pr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78383" y="3159241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Variety records  10,018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46585" y="3378189"/>
            <a:ext cx="380999" cy="224789"/>
          </a:xfrm>
          <a:prstGeom prst="roundRect">
            <a:avLst>
              <a:gd name="adj" fmla="val 10000"/>
            </a:avLst>
          </a:pr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978383" y="3376411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Translated corpus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78383" y="3488170"/>
            <a:ext cx="39745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13,137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46585" y="3679178"/>
            <a:ext cx="380999" cy="38100"/>
          </a:xfrm>
          <a:prstGeom prst="roundRect">
            <a:avLst>
              <a:gd name="adj" fmla="val 10000"/>
            </a:avLst>
          </a:pr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978383" y="3584690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Methods &amp; protocols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78383" y="3696450"/>
            <a:ext cx="23682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250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00" y="3778110"/>
            <a:ext cx="4274602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band width ∝ chunk count; every column reconciles to 126,494 chunks (4,906 documents).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200" y="3878440"/>
            <a:ext cx="3005318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bands below 0.2% are drawn at minimum width for readability.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